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23444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pic>
        <p:nvPicPr>
          <p:cNvPr id="3" name="Image 0" descr="assets/menoufia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0976" y="134416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834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86968" y="38862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Club Management System (MSCMS)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86968" y="45720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unifies every operation of a modern multi-sport club — squads, live matches, medical, plan-driven training, real competitions and analytics — into one secure, role-aware platform built on a microservices back-end, a Next.js front-end and a Python ML engine.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tour through the whole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91640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44168" y="1691640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01368" y="1691640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1691640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691640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75504" y="1691640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32704" y="1691640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1691640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691640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06840" y="1691640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64040" y="1691640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2916936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2916936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44168" y="2916936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01368" y="2916936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98264" y="2916936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81144" y="2916936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75504" y="2916936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🏗️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32704" y="2916936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0" y="2916936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2916936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06840" y="2916936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64040" y="2916936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4142232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" y="4142232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344168" y="4142232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801368" y="4142232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(one by one)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398264" y="4142232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81144" y="4142232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175504" y="4142232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👁️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632704" y="4142232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Views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229600" y="4142232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12480" y="4142232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006840" y="4142232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🎬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464040" y="4142232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367528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9808" y="5367528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344168" y="5367528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🚀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801368" y="5367528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398264" y="5367528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81144" y="5367528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175504" y="5367528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632704" y="5367528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229600" y="5367528"/>
            <a:ext cx="3502152" cy="950976"/>
          </a:xfrm>
          <a:prstGeom prst="roundRect">
            <a:avLst>
              <a:gd name="adj" fmla="val 9615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0" y="5367528"/>
            <a:ext cx="548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006840" y="5367528"/>
            <a:ext cx="457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464040" y="5367528"/>
            <a:ext cx="213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fragmented club operations break down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🗂️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Tooling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Splinters club operations across spreadsheets, WhatsApp threads and paper forms, with no shared system.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9944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✍️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22008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Match Ops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staff to log line-ups, events and scores by hand, inviting delays and human error.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🩹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43584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Injury Tracking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injuries in isolation, with no link to player availability or selection decisions.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45352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9944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📊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922008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Truth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standings, squads and fixtures duplicated and contradictory across teams and sports.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gaps a unified platform has to close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Role-Blind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Exposes sensitive data through shared logins, with no per-role permissions or audit trail.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9944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🔮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22008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Analytics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no performance insights or match-outcome predictions to guide tactical choices.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🏋️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43584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Unplanned Training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sessions ad hoc, with no attendance, drill rating or training-load tracking.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45352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9944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922008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Deal Flow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Drags scouting reports and sponsor negotiations through disconnected emails and back-and-forth.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Goals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Sportify set out to achieve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27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9888" y="162763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Unify Club Operations: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Consolidates matches, medical, training, scouting, messaging and finance into one role-aware platform.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9888" y="239572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Matches Live: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each fixture in real time with an accurate, minute-by-minute event timeline and live clock.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1638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316382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Injury Recovery: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Guides every injury from diagnosis through rehab to a final passing fitness test before return-to-play.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89888" y="393192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 a Single Source of Truth: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the Spring Boot back-end the authoritative store for real fixtures, results and league standings.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248" y="47000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9888" y="470001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Secure Access: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Keycloak-backed role-based access control across every service, route and action.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" y="54681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89888" y="546811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Predictive Insights: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performance analytics and ML-driven predictions to inform line-up, scouting and tactics.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Solutions: Traditional vs. Technological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Sportify replaces the old club playbook with a cloud-native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☁️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→ Cloud Platform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scattered, siloed spreadsheets with one unified cloud-native platform that centralizes every workflow.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Files → Digital Journey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loose paper medical records into a staged digital injury lifecycle tied to each player's profile.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14816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Live Ops → Match Engine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57616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Upgrades silent match days into a broadcast-style live engine streaming events, line-ups and a running clock.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43584" y="41650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Standings → Real Data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" y="4658868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Swaps hand-typed tables for live standings and fixtures ingested automatically from the football-data.org API.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2544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17136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41650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Access → RBAC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4658868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'everyone sees everything' by enforcing Keycloak role-based access across players, staff and managers.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02752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814816" y="41650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Gut Feel → Analytics &amp; ML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57616" y="4658868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instinct with data dashboards and a Python ML service that predicts outcomes and player insights.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role sees a tailored, secure surface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every dashboard route, including admin-only User Management.  •  Primary Functions: manages all accounts and roles and oversees the platform with unrestricted access.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9944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22008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 Manager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Club Hub, Teams, Staff, Players, Matches, Scouting, Contracts and Sponsors.  •  Primary Functions: runs a sport end-to-end, from squad and staff to transfers and sponsor deals.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3584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Club Hub, Teams, Staff, Players, Training, Matches, Contracts, Reports.  •  Primary Functions: coordinates a team's roster, training schedule, fixtures and contract logistics.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9944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22008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Coach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Players, Teams, Training, Matches, Medical, Analytics, Reports, Alerts.  •  Primary Functions: leads coaching, sets up training and line-ups, and reviews performance and fitness.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analysts and scouts to read-only players &amp; fans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/ Physiotherapist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Medical, Players and Training (doctor also gets Alerts).  •  Primary Functions: manages medical profiles and the injury lifecycle, monitoring availability for training.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9944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22008" y="175564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Analyst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24942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Analytics, Training Analytics, Reports, Matches, Players and the ML Predictor &amp; Rating tools.  •  Primary Functions: analyzes match and training data and runs AI predictions and ratings.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3584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Scouting &amp; Scouting Ops, Players, Matches, Competitions, Head-to-Head, Reports.  •  Primary Functions: tracks and evaluates prospects, logging scouting reports against players and fixtures.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4073652"/>
            <a:ext cx="5349240" cy="2080260"/>
          </a:xfrm>
          <a:prstGeom prst="roundRect">
            <a:avLst>
              <a:gd name="adj" fmla="val 4396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9944" y="42199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22008" y="420166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/ Fan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4695444"/>
            <a:ext cx="4928616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Access: read-only Club Hub, Players, Matches, Competitions and Head-to-Head (players also see Training and Medical).  •  Primary Functions: browses club info and follows matches in a view-only UI.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cloud-native Spring Cloud microservice mesh behind one JWT-secured gateway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Front-End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the React dashboard and talks to the platform through a single API Gateway origin.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2424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7016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9080" y="17556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Cloud Gateway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2249424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Keycloak JWTs and load-balances every request to the right service on port 8080.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94576" y="17556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Domain Services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37376" y="2249424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into user (8081), player (8084), training-match (8087), medical (8086), reports (8083) and notification (8085), each with a private database.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43416" y="1627632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08008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20072" y="17556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Eureka + Config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62872" y="2249424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services in Eureka (8761) and feeds them centralized settings from the Config Server (8082).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3584" y="4165092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Identity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" y="4658868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and signs OAuth2 tokens for the mscms realm that every service validates as a resource server.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92424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57016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69080" y="4165092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Event Backbone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11880" y="4658868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domain events asynchronously via an outbox publisher so notifications and analytics never block.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82512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4576" y="4165092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ML Engine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37376" y="4658868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Exposes Python match-prediction and player-rating models that the gateway routes to under /ml.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43416" y="4037076"/>
            <a:ext cx="2551176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08008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20072" y="4165092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 Feed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62872" y="4658868"/>
            <a:ext cx="2130552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real La Liga and Champions League fixtures and standings on a scheduled sync into the match service.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at a Glance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gateway, six domain services, an event backbone and an ML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1600200"/>
            <a:ext cx="92354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assets/diag-arch-overview.png">    </p:cNvPr>
          <p:cNvPicPr>
            <a:picLocks noChangeAspect="1"/>
          </p:cNvPicPr>
          <p:nvPr/>
        </p:nvPicPr>
        <p:blipFill>
          <a:blip r:embed="rId2"/>
          <a:srcRect l="-51426" r="-51426" t="0" b="0"/>
          <a:stretch/>
        </p:blipFill>
        <p:spPr>
          <a:xfrm>
            <a:off x="1527048" y="1664208"/>
            <a:ext cx="9107424" cy="4489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Tech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Proven, production-grade technology at every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2224" y="21488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0F2840"/>
          </a:solidFill>
          <a:ln w="12700">
            <a:solidFill>
              <a:srgbClr val="27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393192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21 / Spring Boot 3.5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Cloud Gateway + Eureka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14 (DB per service)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05856" y="21488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0F2840"/>
          </a:solidFill>
          <a:ln w="12700">
            <a:solidFill>
              <a:srgbClr val="27B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⚛️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33375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(App Router)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&amp; Tailwind v4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WebSockets for real-time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94192" y="178308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19488" y="21488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0F2840"/>
          </a:solidFill>
          <a:ln w="12700">
            <a:solidFill>
              <a:srgbClr val="27B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9488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🐳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94192" y="33375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68512" y="393192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26 (Identity / JWT)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(Eventing)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Python/FastAPI ML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⭐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capability, one at a time — with a real screen of it in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Dashboards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adaptive surface per role — from administrator to fan.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🎛️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surface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menu, page and action is tailored to the signed-in role.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twice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permissions map gates the sidebar and the server-side route guard.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Fourteen roles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administrator to fan, each account sees only what it should.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Dashboards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dashboard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fig-dashboard.png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🏟️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&amp; Multi-Team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Sports, teams, rosters, contracts and transfers in one place.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⚽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sports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Football, basketball, handball, swimming and more, all in one system.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🧑‍🤝‍🧑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&amp; reserve squads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sport runs a senior team plus a reserve / academy team.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squad data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Players, staff, contracts and transfers managed per team.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Multi-Sport &amp; Multi-Team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club-hub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fig-club-hub.png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La Liga and the new-format UEFA Champions League.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🇪🇸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Liga Live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live La Liga standings and fixtures, with results that update automatically as matches are played.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New-Format Champions League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the redesigned UCL as one 36-team league-phase table with qualification zones, then unlocks the knockout bracket.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🌎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Cup 2026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Presents the 48-team World Cup across 12 group tables and a knockout bracket, seeding the qualified teams into the Round of 32 when the draw is TBD.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⚔️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Head-to-Head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FC Barcelona's all-time win-draw-loss record, goals and win-rate against every opponent from finished matches.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laliga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fig-laliga.png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Live-Match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broadcast-style match-day cockpit, run minute by minute.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State Machine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Walks every match through scheduled → first half → half time → second half → full time, auto-going-live at kickoff.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Phase-Bound Events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goals, cards, subs and injuries against a live clock, clamping each event's minute to the phase in play.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Knockout Decider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two extra-time periods and an alternating penalty shoot-out only when a true knockout tie is still level.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Persistence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every score change, event and status flip to the training-match service so the timeline survives a reload.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Live-Match Engine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live-match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fig-live-match.png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🩺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Injury Management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medically-governed return-to-play pipeline.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Staged Injury Lifecycle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every injury through REPORTED → DIAGNOSED → TREATING → RECOVERING → RECOVERED as the status that gates each next action.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Source of Truth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the medical service the one authority on availability, so card, stepper and squad all read the same status.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🚫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Auto-Removal When Injured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an injured player out of match line-ups, training and attendance the moment the injury is logged, and notifies the team.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Fitness Test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a passing return-to-play fitness test before the player flips to RECOVERED and is restored as AVAILABLE.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Injury Management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new-medical-lifecycle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new-medical-lifecycle.PNG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🏃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Plan-Driven Training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season plan to scored session, one squad at a time.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Plans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Anchors one plan to a single team and sport, with a start-to-end date range, training type, goals and focus that every session inherits.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Sessions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 each session at its own date and time inside the plan's range, then lists them in chronological order with a done count.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Ordered Drills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Stamps each drill with a category, duration and sequence, and rejects the session if the drills' total minutes reach the session length.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 Attendance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a per-player status and offers only non-injured players who belong to that plan's team for call-up.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Plan-Driven Training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training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fig-training.png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 &amp; Sponsorship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 reports on prospects and sponsor-offer negotiation.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Sign-or-pass reports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Scouts log structured reports on external prospects.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 negotiation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move through pending, stale and accepted states.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Tied to fixtures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attach to the players and matches they were scouted at.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 &amp; Sponsorship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scouting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fig-scouting.png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Messaging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Club-wide group chat over a live socket.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WebSocket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Messages, reactions, replies and read receipts in real time.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Polling fallback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Falls back to polling when the socket is unavailable.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Team-scoped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and players only — fans stay on the spectator surface.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Messaging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messages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fig-messages.png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ML Predictions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Match-outcome and player-rating predictions on real data.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dashboards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team, player and training KPIs.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predictor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Python/FastAPI service forecasts match outcomes.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ratings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0–100 ratings inform selection and scouting.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ML Predictions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reports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fig-reports.png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Notifications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club, kept in the loop in real time.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Top-bar bell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Injuries, goals, transfers and report-ready events surface instantly.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events fan out to the notification service.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🗂️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center —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history of everything that happened.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Notifications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../documentation/screenshots/fig-notifications.png">    </p:cNvPr>
          <p:cNvPicPr>
            <a:picLocks noChangeAspect="1"/>
          </p:cNvPicPr>
          <p:nvPr/>
        </p:nvPicPr>
        <p:blipFill>
          <a:blip r:embed="rId2"/>
          <a:srcRect l="-51455" r="-51455" t="0" b="0"/>
          <a:stretch/>
        </p:blipFill>
        <p:spPr>
          <a:xfrm>
            <a:off x="1618488" y="1664208"/>
            <a:ext cx="8924544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fig-notifications.png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👁️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Views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platform, a different surface for every login.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👑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shot-view-admin.png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 — every section, plus User Management.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shot-view-admin.png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 Manager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shot-view-sportmanager.png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Squad, staff, matches, scouting, contracts and sponsors.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shot-view-sportmanager.png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Coach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shot-view-headcoach.png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Training, line-ups, matches, medical and analytics.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shot-view-headcoach.png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🩺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Doctor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shot-view-doctor.png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medical module, players and training availability.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shot-view-doctor.png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shot-view-scout.png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Scouting, prospects, matches and head-to-head.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shot-view-scout.png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shot-view-player.png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read-only view of club, matches, training and own medical.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shot-view-player.png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🎟️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 — what they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1600200"/>
            <a:ext cx="9052560" cy="4526280"/>
          </a:xfrm>
          <a:prstGeom prst="roundRect">
            <a:avLst>
              <a:gd name="adj" fmla="val 1616"/>
            </a:avLst>
          </a:prstGeom>
          <a:solidFill>
            <a:srgbClr val="0E1E33"/>
          </a:solidFill>
          <a:ln w="19050">
            <a:solidFill>
              <a:srgbClr val="27B6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placeholder — drop  shot-view-fan.png  into documentation/screenshots/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43891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Spectator-only — club hub, trophies, competitions and matches.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99632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shot-view-fan.png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27B6D6"/>
          </a:solidFill>
          <a:ln/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3212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  LIVE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Sportify in Action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94560" y="4663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walkthrough — login, the role dashboard, a live match, the medical room and team messaging.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54864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F2840"/>
          </a:solidFill>
          <a:ln w="12700">
            <a:solidFill>
              <a:srgbClr val="27B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5486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→ Video here, or run the live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Sportify goes next: mobile, ML and the wider sporting world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43584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Ships dedicated iOS and Android apps with push notifications so staff and players manage the club on the move.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ML Models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Extends the Python ML service with richer predictions fed by live in-match features, not just pre-game stats.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27632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14816" y="175564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Sports &amp; Federations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57616" y="2249424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Expands the multi-sport engine with new disciplines and official federation data feeds beyond football-data.org.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⌚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43584" y="41650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Wearables &amp; Biometrics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" y="4658868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Integrates wearables to stream training-load and biometric data straight into player medical and fitness profiles.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2544" y="4037076"/>
            <a:ext cx="3456432" cy="2116836"/>
          </a:xfrm>
          <a:prstGeom prst="roundRect">
            <a:avLst>
              <a:gd name="adj" fmla="val 432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17136" y="41833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41650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Video &amp; Streaming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4658868"/>
            <a:ext cx="3035808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Attaches live video and clip streaming to the match timeline so every key event links to its footage.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turns a club's scattered, manual operations into one secure, real-time, data-driven platform.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9611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30175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production-grade microservices architecture, deployed with Docker.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37307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competitions, a live-match engine and a complete medical workflow.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444398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security end to end, with analytics and ML predictions on top.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96112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515721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6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extensible foundation ready for mobile, more sports and richer models.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77724" cy="676656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59536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 by Dr. Shaimaa Saber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08483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Mariam Mohamed Ahmed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192024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98264" y="208483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98264" y="24688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Abdellatief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08483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24688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Eman Ahmed Elboghdady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35478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Khaled Mohamed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98264" y="338328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6273C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98264" y="35478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98264" y="393192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Shahd Abdelaziz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3383280"/>
            <a:ext cx="3502152" cy="1097280"/>
          </a:xfrm>
          <a:prstGeom prst="roundRect">
            <a:avLst>
              <a:gd name="adj" fmla="val 10000"/>
            </a:avLst>
          </a:prstGeom>
          <a:solidFill>
            <a:srgbClr val="1B3149"/>
          </a:solidFill>
          <a:ln w="12700">
            <a:solidFill>
              <a:srgbClr val="2B40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354787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Mohamed Salem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Menoufia University · Faculty of Computers and Information · Graduation Project 2025 – 2026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 ·  MSCMS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🙌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Thanks for your attention!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7B6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 welcome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Sportify · MSCMS  —  a cloud-native multi-sport club management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455664"/>
            <a:ext cx="3840480" cy="20117"/>
          </a:xfrm>
          <a:prstGeom prst="rect">
            <a:avLst/>
          </a:prstGeom>
          <a:solidFill>
            <a:srgbClr val="27B6D6"/>
          </a:solidFill>
          <a:ln/>
        </p:spPr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Sportify (MSCMS) — Project Overview</dc:title>
  <dc:subject>PptxGenJS Presentation</dc:subject>
  <dc:creator>Sportify Team</dc:creator>
  <cp:lastModifiedBy>Sportify Team</cp:lastModifiedBy>
  <cp:revision>1</cp:revision>
  <dcterms:created xsi:type="dcterms:W3CDTF">2026-06-25T15:14:30Z</dcterms:created>
  <dcterms:modified xsi:type="dcterms:W3CDTF">2026-06-25T15:14:30Z</dcterms:modified>
</cp:coreProperties>
</file>