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123444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pic>
        <p:nvPicPr>
          <p:cNvPr id="3" name="Image 0" descr="assets/menoufia-log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50976" y="1344168"/>
            <a:ext cx="1152144" cy="11521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28346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</a:t>
            </a:r>
            <a:endParaRPr lang="en-US" sz="6400" dirty="0"/>
          </a:p>
        </p:txBody>
      </p:sp>
      <p:sp>
        <p:nvSpPr>
          <p:cNvPr id="5" name="Text 2"/>
          <p:cNvSpPr/>
          <p:nvPr/>
        </p:nvSpPr>
        <p:spPr>
          <a:xfrm>
            <a:off x="886968" y="388620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Cloud-Native </a:t>
            </a:r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Multi-Sport Club Management System (MSCMS)</a:t>
            </a:r>
            <a:endParaRPr lang="en-US" sz="2100" dirty="0"/>
          </a:p>
        </p:txBody>
      </p:sp>
      <p:sp>
        <p:nvSpPr>
          <p:cNvPr id="6" name="Text 3"/>
          <p:cNvSpPr/>
          <p:nvPr/>
        </p:nvSpPr>
        <p:spPr>
          <a:xfrm>
            <a:off x="886968" y="45720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unifies every operation of a modern multi-sport club — squads, live matches, medical, plan-driven training, real competitions and analytics — into one secure, role-aware platform built on a microservices back-end, a Next.js front-end and a Python ML engine.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</p:spTree>
  </p:cSld>
  <p:clrMapOvr>
    <a:masterClrMapping/>
  </p:clrMapOvr>
  <p:transition spd="med">
    <p:push dir="l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7724" cy="676656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🧭  </a:t>
            </a:r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Index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59536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we'll walk through today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5394960" cy="1060704"/>
          </a:xfrm>
          <a:prstGeom prst="roundRect">
            <a:avLst>
              <a:gd name="adj" fmla="val 10345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95528" y="1691640"/>
            <a:ext cx="7772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618488" y="1691640"/>
            <a:ext cx="6400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🧩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50008" y="18745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&amp; Goals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2350008" y="225856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a unified club platform is needed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27648" y="1691640"/>
            <a:ext cx="5394960" cy="1060704"/>
          </a:xfrm>
          <a:prstGeom prst="roundRect">
            <a:avLst>
              <a:gd name="adj" fmla="val 10345"/>
            </a:avLst>
          </a:prstGeom>
          <a:solidFill>
            <a:srgbClr val="1B3149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691640"/>
            <a:ext cx="7772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379208" y="1691640"/>
            <a:ext cx="6400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110728" y="18745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Solution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110728" y="225856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cloud-native platform, role-aware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008376"/>
            <a:ext cx="5394960" cy="1060704"/>
          </a:xfrm>
          <a:prstGeom prst="roundRect">
            <a:avLst>
              <a:gd name="adj" fmla="val 10345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95528" y="3008376"/>
            <a:ext cx="7772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618488" y="3008376"/>
            <a:ext cx="6400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350008" y="319125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Roles &amp; Access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2350008" y="3575304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tailored, secure surface per role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27648" y="3008376"/>
            <a:ext cx="5394960" cy="1060704"/>
          </a:xfrm>
          <a:prstGeom prst="roundRect">
            <a:avLst>
              <a:gd name="adj" fmla="val 10345"/>
            </a:avLst>
          </a:prstGeom>
          <a:solidFill>
            <a:srgbClr val="1B3149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56248" y="3008376"/>
            <a:ext cx="7772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379208" y="3008376"/>
            <a:ext cx="6400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🏗️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110728" y="319125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&amp; Tech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8110728" y="3575304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Microservices, gateway, ML &amp; the stack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4325112"/>
            <a:ext cx="5394960" cy="1060704"/>
          </a:xfrm>
          <a:prstGeom prst="roundRect">
            <a:avLst>
              <a:gd name="adj" fmla="val 10345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95528" y="4325112"/>
            <a:ext cx="7772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1618488" y="4325112"/>
            <a:ext cx="6400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2350008" y="450799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350008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capability, shown on real screens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327648" y="4325112"/>
            <a:ext cx="5394960" cy="1060704"/>
          </a:xfrm>
          <a:prstGeom prst="roundRect">
            <a:avLst>
              <a:gd name="adj" fmla="val 10345"/>
            </a:avLst>
          </a:prstGeom>
          <a:solidFill>
            <a:srgbClr val="1B3149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56248" y="4325112"/>
            <a:ext cx="7772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7379208" y="4325112"/>
            <a:ext cx="6400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🎬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110728" y="450799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8110728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in action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5641848"/>
            <a:ext cx="5394960" cy="1060704"/>
          </a:xfrm>
          <a:prstGeom prst="roundRect">
            <a:avLst>
              <a:gd name="adj" fmla="val 10345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95528" y="5641848"/>
            <a:ext cx="7772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1618488" y="5641848"/>
            <a:ext cx="6400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350008" y="582472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Work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2350008" y="620877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platform goes next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27648" y="5641848"/>
            <a:ext cx="5394960" cy="1060704"/>
          </a:xfrm>
          <a:prstGeom prst="roundRect">
            <a:avLst>
              <a:gd name="adj" fmla="val 10345"/>
            </a:avLst>
          </a:prstGeom>
          <a:solidFill>
            <a:srgbClr val="1B3149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556248" y="5641848"/>
            <a:ext cx="7772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7379208" y="5641848"/>
            <a:ext cx="6400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8110728" y="582472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Conclusion &amp; Team</a:t>
            </a:r>
            <a:endParaRPr lang="en-US" sz="1550" dirty="0"/>
          </a:p>
        </p:txBody>
      </p:sp>
      <p:sp>
        <p:nvSpPr>
          <p:cNvPr id="44" name="Text 42"/>
          <p:cNvSpPr/>
          <p:nvPr/>
        </p:nvSpPr>
        <p:spPr>
          <a:xfrm>
            <a:off x="8110728" y="620877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Wrap-up and the people behind it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46" name="Text 44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7724" cy="676656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🧩  </a:t>
            </a:r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Definition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59536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fragmented club operations break down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5349240" cy="2080260"/>
          </a:xfrm>
          <a:prstGeom prst="roundRect">
            <a:avLst>
              <a:gd name="adj" fmla="val 4396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77393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🗂️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243584" y="1755648"/>
            <a:ext cx="4507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Scattered Tooling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86384" y="2249424"/>
            <a:ext cx="4928616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Splinters club operations across spreadsheets, WhatsApp threads and paper forms, with no shared system.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5352" y="1627632"/>
            <a:ext cx="5349240" cy="2080260"/>
          </a:xfrm>
          <a:prstGeom prst="roundRect">
            <a:avLst>
              <a:gd name="adj" fmla="val 4396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9944" y="177393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✍️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922008" y="1755648"/>
            <a:ext cx="4507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Match Ops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64808" y="2249424"/>
            <a:ext cx="4928616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Forces staff to log line-ups, events and scores by hand, inviting delays and human error.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073652"/>
            <a:ext cx="5349240" cy="2080260"/>
          </a:xfrm>
          <a:prstGeom prst="roundRect">
            <a:avLst>
              <a:gd name="adj" fmla="val 4396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21995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🩹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243584" y="4201668"/>
            <a:ext cx="4507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Blind Injury Tracking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86384" y="4695444"/>
            <a:ext cx="4928616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Records injuries in isolation, with no link to player availability or selection decisions.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45352" y="4073652"/>
            <a:ext cx="5349240" cy="2080260"/>
          </a:xfrm>
          <a:prstGeom prst="roundRect">
            <a:avLst>
              <a:gd name="adj" fmla="val 4396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9944" y="421995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📊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922008" y="4201668"/>
            <a:ext cx="4507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Single Truth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64808" y="4695444"/>
            <a:ext cx="4928616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Leaves standings, squads and fixtures duplicated and contradictory across teams and sports.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7724" cy="676656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🧩  </a:t>
            </a:r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Definition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59536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gaps a unified platform has to close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5349240" cy="2080260"/>
          </a:xfrm>
          <a:prstGeom prst="roundRect">
            <a:avLst>
              <a:gd name="adj" fmla="val 4396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77393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🔓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243584" y="1755648"/>
            <a:ext cx="4507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Role-Blind Access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86384" y="2249424"/>
            <a:ext cx="4928616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Exposes sensitive data through shared logins, with no per-role permissions or audit trail.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5352" y="1627632"/>
            <a:ext cx="5349240" cy="2080260"/>
          </a:xfrm>
          <a:prstGeom prst="roundRect">
            <a:avLst>
              <a:gd name="adj" fmla="val 4396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9944" y="177393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🔮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922008" y="1755648"/>
            <a:ext cx="4507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Analytics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64808" y="2249424"/>
            <a:ext cx="4928616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Offers no performance insights or match-outcome predictions to guide tactical choices.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073652"/>
            <a:ext cx="5349240" cy="2080260"/>
          </a:xfrm>
          <a:prstGeom prst="roundRect">
            <a:avLst>
              <a:gd name="adj" fmla="val 4396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21995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🏋️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243584" y="4201668"/>
            <a:ext cx="4507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Unplanned Training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86384" y="4695444"/>
            <a:ext cx="4928616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Schedules sessions ad hoc, with no attendance, drill rating or training-load tracking.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45352" y="4073652"/>
            <a:ext cx="5349240" cy="2080260"/>
          </a:xfrm>
          <a:prstGeom prst="roundRect">
            <a:avLst>
              <a:gd name="adj" fmla="val 4396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9944" y="421995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000000"/>
                </a:solidFill>
              </a:rPr>
              <a:t>🐌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922008" y="4201668"/>
            <a:ext cx="4507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Slow Deal Flow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64808" y="4695444"/>
            <a:ext cx="4928616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Drags scouting reports and sponsor negotiations through disconnected emails and back-and-forth.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7724" cy="676656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 </a:t>
            </a:r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Goals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59536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Sportify set out to achieve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41248" y="16276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🧩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89888" y="1627632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Unify Club Operations: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Consolidates matches, medical, training, scouting, messaging and finance into one role-aware platform.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41248" y="2395728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⚽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89888" y="239572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Matches Live: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Streams each fixture in real time with an accurate, minute-by-minute event timeline and live clock.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41248" y="3163824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🏥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89888" y="3163824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 Injury Recovery: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Guides every injury from diagnosis through rehab to a final passing fitness test before return-to-play.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41248" y="393192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89888" y="3931920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Anchor a Single Source of Truth: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Makes the Spring Boot back-end the authoritative store for real fixtures, results and league standings.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47000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89888" y="4700016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 Secure Access: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Applies Keycloak-backed role-based access control across every service, route and action.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41248" y="546811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89888" y="5468112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Surface Predictive Insights: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Delivers performance analytics and ML-driven predictions to inform line-up, scouting and tactics.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7724" cy="676656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⚙️  </a:t>
            </a:r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Solutions: Traditional vs. Technological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59536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Sportify replaces the old club playbook with a cloud-native one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3456432" cy="2116836"/>
          </a:xfrm>
          <a:prstGeom prst="roundRect">
            <a:avLst>
              <a:gd name="adj" fmla="val 4320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77393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☁️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43584" y="1755648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Spreadsheets → Cloud Platform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86384" y="2249424"/>
            <a:ext cx="3035808" cy="1385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Replaces scattered, siloed spreadsheets with one unified cloud-native platform that centralizes every workflow.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52544" y="1627632"/>
            <a:ext cx="3456432" cy="2116836"/>
          </a:xfrm>
          <a:prstGeom prst="roundRect">
            <a:avLst>
              <a:gd name="adj" fmla="val 4320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17136" y="177393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🩺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29200" y="1755648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Paper Files → Digital Journey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72000" y="2249424"/>
            <a:ext cx="3035808" cy="1385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Turns loose paper medical records into a staged digital injury lifecycle tied to each player's profile.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38160" y="1627632"/>
            <a:ext cx="3456432" cy="2116836"/>
          </a:xfrm>
          <a:prstGeom prst="roundRect">
            <a:avLst>
              <a:gd name="adj" fmla="val 4320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302752" y="177393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📺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814816" y="1755648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Live Ops → Match Engine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357616" y="2249424"/>
            <a:ext cx="3035808" cy="1385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Upgrades silent match days into a broadcast-style live engine streaming events, line-ups and a running clock.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037076"/>
            <a:ext cx="3456432" cy="2116836"/>
          </a:xfrm>
          <a:prstGeom prst="roundRect">
            <a:avLst>
              <a:gd name="adj" fmla="val 4320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31520" y="41833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📊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43584" y="4165092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Standings → Real Data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86384" y="4658868"/>
            <a:ext cx="3035808" cy="1385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Swaps hand-typed tables for live standings and fixtures ingested automatically from the football-data.org API.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352544" y="4037076"/>
            <a:ext cx="3456432" cy="2116836"/>
          </a:xfrm>
          <a:prstGeom prst="roundRect">
            <a:avLst>
              <a:gd name="adj" fmla="val 4320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17136" y="41833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🔐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029200" y="4165092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Access → RBAC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72000" y="4658868"/>
            <a:ext cx="3035808" cy="1385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Ends 'everyone sees everything' by enforcing Keycloak role-based access across players, staff and managers.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138160" y="4037076"/>
            <a:ext cx="3456432" cy="2116836"/>
          </a:xfrm>
          <a:prstGeom prst="roundRect">
            <a:avLst>
              <a:gd name="adj" fmla="val 4320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302752" y="41833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🤖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814816" y="4165092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Gut Feel → Analytics &amp; ML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357616" y="4658868"/>
            <a:ext cx="3035808" cy="1385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Replaces instinct with data dashboards and a Python ML service that predicts outcomes and player insights.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7724" cy="676656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🔐  </a:t>
            </a:r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Roles &amp; Access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59536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each role sees a tailored, secure surface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5349240" cy="2080260"/>
          </a:xfrm>
          <a:prstGeom prst="roundRect">
            <a:avLst>
              <a:gd name="adj" fmla="val 4396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77393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👑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43584" y="1755648"/>
            <a:ext cx="4507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Administrator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249424"/>
            <a:ext cx="4928616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Access: every dashboard route, including admin-only User Management.  •  Primary Functions: manages all accounts and roles and oversees the platform with unrestricted access.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45352" y="1627632"/>
            <a:ext cx="5349240" cy="2080260"/>
          </a:xfrm>
          <a:prstGeom prst="roundRect">
            <a:avLst>
              <a:gd name="adj" fmla="val 4396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9944" y="177393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🏢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922008" y="1755648"/>
            <a:ext cx="4507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 Manager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249424"/>
            <a:ext cx="4928616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Access: Club Hub, Teams, Staff, Players, Matches, Scouting, Contracts and Sponsors.  •  Primary Functions: runs a sport end-to-end, from squad and staff to transfers and sponsor deals.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073652"/>
            <a:ext cx="5349240" cy="2080260"/>
          </a:xfrm>
          <a:prstGeom prst="roundRect">
            <a:avLst>
              <a:gd name="adj" fmla="val 4396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21995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43584" y="4201668"/>
            <a:ext cx="4507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Manager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86384" y="4695444"/>
            <a:ext cx="4928616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Access: Club Hub, Teams, Staff, Players, Training, Matches, Contracts, Reports.  •  Primary Functions: coordinates a team's roster, training schedule, fixtures and contract logistics.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45352" y="4073652"/>
            <a:ext cx="5349240" cy="2080260"/>
          </a:xfrm>
          <a:prstGeom prst="roundRect">
            <a:avLst>
              <a:gd name="adj" fmla="val 4396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9944" y="421995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922008" y="4201668"/>
            <a:ext cx="4507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 Coach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64808" y="4695444"/>
            <a:ext cx="4928616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Access: Players, Teams, Training, Matches, Medical, Analytics, Reports, Alerts.  •  Primary Functions: leads coaching, sets up training and line-ups, and reviews performance and fitness.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7724" cy="676656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🔐  </a:t>
            </a:r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Roles &amp; Access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59536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analysts and scouts to read-only players &amp; fans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5349240" cy="2080260"/>
          </a:xfrm>
          <a:prstGeom prst="roundRect">
            <a:avLst>
              <a:gd name="adj" fmla="val 4396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77393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43584" y="1755648"/>
            <a:ext cx="4507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Doctor / Physiotherapist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249424"/>
            <a:ext cx="4928616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Access: Medical, Players and Training (doctor also gets Alerts).  •  Primary Functions: manages medical profiles and the injury lifecycle, monitoring availability for training.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45352" y="1627632"/>
            <a:ext cx="5349240" cy="2080260"/>
          </a:xfrm>
          <a:prstGeom prst="roundRect">
            <a:avLst>
              <a:gd name="adj" fmla="val 4396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9944" y="177393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922008" y="1755648"/>
            <a:ext cx="4507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Performance Analyst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249424"/>
            <a:ext cx="4928616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Access: Analytics, Training Analytics, Reports, Matches, Players and the ML Predictor &amp; Rating tools.  •  Primary Functions: analyzes match and training data and runs AI predictions and ratings.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073652"/>
            <a:ext cx="5349240" cy="2080260"/>
          </a:xfrm>
          <a:prstGeom prst="roundRect">
            <a:avLst>
              <a:gd name="adj" fmla="val 4396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21995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43584" y="4201668"/>
            <a:ext cx="4507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Scout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86384" y="4695444"/>
            <a:ext cx="4928616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Access: Scouting &amp; Scouting Ops, Players, Matches, Competitions, Head-to-Head, Reports.  •  Primary Functions: tracks and evaluates prospects, logging scouting reports against players and fixtures.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45352" y="4073652"/>
            <a:ext cx="5349240" cy="2080260"/>
          </a:xfrm>
          <a:prstGeom prst="roundRect">
            <a:avLst>
              <a:gd name="adj" fmla="val 4396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9944" y="421995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922008" y="4201668"/>
            <a:ext cx="4507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Player / Fan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64808" y="4695444"/>
            <a:ext cx="4928616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Access: read-only Club Hub, Players, Matches, Competitions and Head-to-Head (players also see Training and Medical).  •  Primary Functions: browses club info and follows matches in a view-only UI.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7724" cy="676656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🏗️  </a:t>
            </a:r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Architecture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59536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cloud-native Spring Cloud microservice mesh behind one JWT-secured gateway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2551176" cy="2116836"/>
          </a:xfrm>
          <a:prstGeom prst="roundRect">
            <a:avLst>
              <a:gd name="adj" fmla="val 4320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77393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🖥️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43584" y="1755648"/>
            <a:ext cx="1709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Next.js Front-End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86384" y="2249424"/>
            <a:ext cx="2130552" cy="1385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Serves the React dashboard and talks to the platform through a single API Gateway origin.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92424" y="1627632"/>
            <a:ext cx="2551176" cy="2116836"/>
          </a:xfrm>
          <a:prstGeom prst="roundRect">
            <a:avLst>
              <a:gd name="adj" fmla="val 4320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57016" y="177393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🚪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069080" y="1755648"/>
            <a:ext cx="1709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Spring Cloud Gateway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611880" y="2249424"/>
            <a:ext cx="2130552" cy="1385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Verifies Keycloak JWTs and load-balances every request to the right service on port 8080.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627632"/>
            <a:ext cx="2551176" cy="2116836"/>
          </a:xfrm>
          <a:prstGeom prst="roundRect">
            <a:avLst>
              <a:gd name="adj" fmla="val 4320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82512" y="177393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🧩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94576" y="1755648"/>
            <a:ext cx="1709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Domain Services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37376" y="2249424"/>
            <a:ext cx="2130552" cy="1385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Splits into user (8081), player (8084), training-match (8087), medical (8086), reports (8083) and notification (8085), each with a private database.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043416" y="1627632"/>
            <a:ext cx="2551176" cy="2116836"/>
          </a:xfrm>
          <a:prstGeom prst="roundRect">
            <a:avLst>
              <a:gd name="adj" fmla="val 4320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08008" y="177393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🧭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720072" y="1755648"/>
            <a:ext cx="1709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Eureka + Config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262872" y="2249424"/>
            <a:ext cx="2130552" cy="1385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Registers services in Eureka (8761) and feeds them centralized settings from the Config Server (8082).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4037076"/>
            <a:ext cx="2551176" cy="2116836"/>
          </a:xfrm>
          <a:prstGeom prst="roundRect">
            <a:avLst>
              <a:gd name="adj" fmla="val 4320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1520" y="41833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🔐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43584" y="4165092"/>
            <a:ext cx="1709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Keycloak Identity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86384" y="4658868"/>
            <a:ext cx="2130552" cy="1385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Issues and signs OAuth2 tokens for the mscms realm that every service validates as a resource server.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392424" y="4037076"/>
            <a:ext cx="2551176" cy="2116836"/>
          </a:xfrm>
          <a:prstGeom prst="roundRect">
            <a:avLst>
              <a:gd name="adj" fmla="val 4320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557016" y="41833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📨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069080" y="4165092"/>
            <a:ext cx="1709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Kafka Event Backbone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611880" y="4658868"/>
            <a:ext cx="2130552" cy="1385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Streams domain events asynchronously via an outbox publisher so notifications and analytics never block.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4037076"/>
            <a:ext cx="2551176" cy="2116836"/>
          </a:xfrm>
          <a:prstGeom prst="roundRect">
            <a:avLst>
              <a:gd name="adj" fmla="val 4320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382512" y="41833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🤖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894576" y="4165092"/>
            <a:ext cx="1709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 ML Engine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437376" y="4658868"/>
            <a:ext cx="2130552" cy="1385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Exposes Python match-prediction and player-rating models that the gateway routes to under /ml.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43416" y="4037076"/>
            <a:ext cx="2551176" cy="2116836"/>
          </a:xfrm>
          <a:prstGeom prst="roundRect">
            <a:avLst>
              <a:gd name="adj" fmla="val 4320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208008" y="41833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🌐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720072" y="4165092"/>
            <a:ext cx="1709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football-data.org Feed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9262872" y="4658868"/>
            <a:ext cx="2130552" cy="1385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Pulls real La Liga and Champions League fixtures and standings on a scheduled sync into the match service.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8" name="Text 36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7724" cy="676656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🗺️  </a:t>
            </a:r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at a Glance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59536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gateway, six domain services, an event backbone and an ML engine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463040" y="1600200"/>
            <a:ext cx="9235440" cy="4617720"/>
          </a:xfrm>
          <a:prstGeom prst="roundRect">
            <a:avLst>
              <a:gd name="adj" fmla="val 1188"/>
            </a:avLst>
          </a:prstGeom>
          <a:solidFill>
            <a:srgbClr val="FFFFFF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pic>
        <p:nvPicPr>
          <p:cNvPr id="6" name="Image 0" descr="assets/diag-arch-overview.png">    </p:cNvPr>
          <p:cNvPicPr>
            <a:picLocks noChangeAspect="1"/>
          </p:cNvPicPr>
          <p:nvPr/>
        </p:nvPicPr>
        <p:blipFill>
          <a:blip r:embed="rId2"/>
          <a:srcRect l="-51426" r="-51426" t="0" b="0"/>
          <a:stretch/>
        </p:blipFill>
        <p:spPr>
          <a:xfrm>
            <a:off x="1527048" y="1664208"/>
            <a:ext cx="9107424" cy="448970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7724" cy="676656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🧱  </a:t>
            </a:r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Enterprise-Grade Tech Stack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59536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Proven, production-grade technology at every layer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3456432" cy="3383280"/>
          </a:xfrm>
          <a:prstGeom prst="roundRect">
            <a:avLst>
              <a:gd name="adj" fmla="val 3243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792224" y="2148840"/>
            <a:ext cx="1005840" cy="1005840"/>
          </a:xfrm>
          <a:prstGeom prst="roundRect">
            <a:avLst>
              <a:gd name="adj" fmla="val 9091"/>
            </a:avLst>
          </a:prstGeom>
          <a:solidFill>
            <a:srgbClr val="0F2840"/>
          </a:solidFill>
          <a:ln w="12700">
            <a:solidFill>
              <a:srgbClr val="27B6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92224" y="21488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☕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66928" y="3337560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Back-End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41248" y="3931920"/>
            <a:ext cx="29077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 21 / Spring Boot 3.5</a:t>
            </a:r>
            <a:endParaRPr lang="en-US" sz="125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Spring Cloud Gateway + Eureka</a:t>
            </a:r>
            <a:endParaRPr lang="en-US" sz="125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14 (DB per service)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80560" y="1783080"/>
            <a:ext cx="3456432" cy="3383280"/>
          </a:xfrm>
          <a:prstGeom prst="roundRect">
            <a:avLst>
              <a:gd name="adj" fmla="val 3243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705856" y="2148840"/>
            <a:ext cx="1005840" cy="1005840"/>
          </a:xfrm>
          <a:prstGeom prst="roundRect">
            <a:avLst>
              <a:gd name="adj" fmla="val 9091"/>
            </a:avLst>
          </a:prstGeom>
          <a:solidFill>
            <a:srgbClr val="0F2840"/>
          </a:solidFill>
          <a:ln w="12700">
            <a:solidFill>
              <a:srgbClr val="27B6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05856" y="21488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⚛️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480560" y="3337560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Front-End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54880" y="3931920"/>
            <a:ext cx="29077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Next.js 16 (App Router)</a:t>
            </a:r>
            <a:endParaRPr lang="en-US" sz="125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19 &amp; Tailwind v4</a:t>
            </a:r>
            <a:endParaRPr lang="en-US" sz="125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WebSockets for real-time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394192" y="1783080"/>
            <a:ext cx="3456432" cy="3383280"/>
          </a:xfrm>
          <a:prstGeom prst="roundRect">
            <a:avLst>
              <a:gd name="adj" fmla="val 3243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619488" y="2148840"/>
            <a:ext cx="1005840" cy="1005840"/>
          </a:xfrm>
          <a:prstGeom prst="roundRect">
            <a:avLst>
              <a:gd name="adj" fmla="val 9091"/>
            </a:avLst>
          </a:prstGeom>
          <a:solidFill>
            <a:srgbClr val="0F2840"/>
          </a:solidFill>
          <a:ln w="12700">
            <a:solidFill>
              <a:srgbClr val="27B6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19488" y="21488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🐳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8394192" y="3337560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Infrastructure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668512" y="3931920"/>
            <a:ext cx="29077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Keycloak 26 (Identity / JWT)</a:t>
            </a:r>
            <a:endParaRPr lang="en-US" sz="125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Apache Kafka (Eventing)</a:t>
            </a:r>
            <a:endParaRPr lang="en-US" sz="125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 · Python/FastAPI ML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103120"/>
            <a:ext cx="1216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⭐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0" y="3200400"/>
            <a:ext cx="1216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Features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411480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capability, one at a time — with a real screen of it in action.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7724" cy="676656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🛡️  </a:t>
            </a:r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Role-Aware Dashboards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59536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adaptive surface per role — from administrator to fan.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🎛️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8288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Adaptive surface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menu, page and action is tailored to the signed-in role.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🔐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269748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Enforced twice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shared permissions map gates the sidebar and the server-side route guard.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👥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35661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Fourteen roles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administrator to fan, each account sees only what it should.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77724" cy="548640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Role-Aware Dashboards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24128"/>
            <a:ext cx="11430000" cy="5468112"/>
          </a:xfrm>
          <a:prstGeom prst="roundRect">
            <a:avLst>
              <a:gd name="adj" fmla="val 836"/>
            </a:avLst>
          </a:prstGeom>
          <a:solidFill>
            <a:srgbClr val="0B1626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pic>
        <p:nvPicPr>
          <p:cNvPr id="5" name="Image 0" descr="../documentation/screenshots/fig-dashboard.png">    </p:cNvPr>
          <p:cNvPicPr>
            <a:picLocks noChangeAspect="1"/>
          </p:cNvPicPr>
          <p:nvPr/>
        </p:nvPicPr>
        <p:blipFill>
          <a:blip r:embed="rId2"/>
          <a:srcRect l="-56401" r="-56401" t="0" b="0"/>
          <a:stretch/>
        </p:blipFill>
        <p:spPr>
          <a:xfrm>
            <a:off x="457200" y="1115568"/>
            <a:ext cx="11247120" cy="52852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38160" y="65105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fig-dashboard.png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7724" cy="676656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🏟️  </a:t>
            </a:r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Multi-Sport &amp; Multi-Team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59536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Sports, teams, rosters, contracts and transfers in one place.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⚽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8288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Many sports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Football, basketball, handball, swimming and more, all in one system.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🧑‍🤝‍🧑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269748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&amp; reserve squads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sport runs a senior team plus a reserve / academy team.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📇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35661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squad data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Players, staff, contracts and transfers managed per team.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77724" cy="548640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Multi-Sport &amp; Multi-Team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24128"/>
            <a:ext cx="11430000" cy="5468112"/>
          </a:xfrm>
          <a:prstGeom prst="roundRect">
            <a:avLst>
              <a:gd name="adj" fmla="val 836"/>
            </a:avLst>
          </a:prstGeom>
          <a:solidFill>
            <a:srgbClr val="0B1626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pic>
        <p:nvPicPr>
          <p:cNvPr id="5" name="Image 0" descr="../documentation/screenshots/fig-club-hub.png">    </p:cNvPr>
          <p:cNvPicPr>
            <a:picLocks noChangeAspect="1"/>
          </p:cNvPicPr>
          <p:nvPr/>
        </p:nvPicPr>
        <p:blipFill>
          <a:blip r:embed="rId2"/>
          <a:srcRect l="-56401" r="-56401" t="0" b="0"/>
          <a:stretch/>
        </p:blipFill>
        <p:spPr>
          <a:xfrm>
            <a:off x="457200" y="1115568"/>
            <a:ext cx="11247120" cy="52852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38160" y="65105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fig-club-hub.png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7724" cy="676656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🏆  </a:t>
            </a:r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Competitions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59536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La Liga and the new-format UEFA Champions League.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🇪🇸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8288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Liga Live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Shows live La Liga standings and fixtures, with results that update automatically as matches are played.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⭐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269748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New-Format Champions League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Renders the redesigned UCL as one 36-team league-phase table with qualification zones, then unlocks the knockout bracket.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🌎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35661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World Cup 2026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Presents the 48-team World Cup across 12 group tables and a knockout bracket, seeding the qualified teams into the Round of 32 when the draw is TBD.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686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⚔️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44348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Head-to-Head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Builds FC Barcelona's all-time win-draw-loss record, goals and win-rate against every opponent from finished matches.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77724" cy="548640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Competitions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24128"/>
            <a:ext cx="11430000" cy="5468112"/>
          </a:xfrm>
          <a:prstGeom prst="roundRect">
            <a:avLst>
              <a:gd name="adj" fmla="val 836"/>
            </a:avLst>
          </a:prstGeom>
          <a:solidFill>
            <a:srgbClr val="0B1626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pic>
        <p:nvPicPr>
          <p:cNvPr id="5" name="Image 0" descr="../documentation/screenshots/fig-laliga.png">    </p:cNvPr>
          <p:cNvPicPr>
            <a:picLocks noChangeAspect="1"/>
          </p:cNvPicPr>
          <p:nvPr/>
        </p:nvPicPr>
        <p:blipFill>
          <a:blip r:embed="rId2"/>
          <a:srcRect l="-56401" r="-56401" t="0" b="0"/>
          <a:stretch/>
        </p:blipFill>
        <p:spPr>
          <a:xfrm>
            <a:off x="457200" y="1115568"/>
            <a:ext cx="11247120" cy="52852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38160" y="65105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fig-laliga.png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7724" cy="676656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⚽  </a:t>
            </a:r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Live-Match Engine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59536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broadcast-style match-day cockpit, run minute by minute.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⏱️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8288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State Machine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Walks every match through scheduled → first half → half time → second half → full time, auto-going-live at kickoff.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269748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Phase-Bound Events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Records goals, cards, subs and injuries against a live clock, clamping each event's minute to the phase in play.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🥅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35661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Knockout Decider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Triggers two extra-time periods and an alternating penalty shoot-out only when a true knockout tie is still level.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686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💾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44348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Persistence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Streams every score change, event and status flip to the training-match service so the timeline survives a reload.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77724" cy="548640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Live-Match Engine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24128"/>
            <a:ext cx="11430000" cy="5468112"/>
          </a:xfrm>
          <a:prstGeom prst="roundRect">
            <a:avLst>
              <a:gd name="adj" fmla="val 836"/>
            </a:avLst>
          </a:prstGeom>
          <a:solidFill>
            <a:srgbClr val="0B1626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pic>
        <p:nvPicPr>
          <p:cNvPr id="5" name="Image 0" descr="../documentation/screenshots/fig-live-match.png">    </p:cNvPr>
          <p:cNvPicPr>
            <a:picLocks noChangeAspect="1"/>
          </p:cNvPicPr>
          <p:nvPr/>
        </p:nvPicPr>
        <p:blipFill>
          <a:blip r:embed="rId2"/>
          <a:srcRect l="-56401" r="-56401" t="0" b="0"/>
          <a:stretch/>
        </p:blipFill>
        <p:spPr>
          <a:xfrm>
            <a:off x="457200" y="1115568"/>
            <a:ext cx="11247120" cy="52852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38160" y="65105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fig-live-match.png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7724" cy="676656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🩺  </a:t>
            </a:r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Advanced Injury Management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59536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medically-governed return-to-play pipeline.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🔁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8288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Staged Injury Lifecycle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Drives every injury through REPORTED → DIAGNOSED → TREATING → RECOVERING → RECOVERED as the status that gates each next action.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🎯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269748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 Source of Truth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Makes the medical service the one authority on availability, so card, stepper and squad all read the same status.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🚫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35661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Auto-Removal When Injured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Pulls an injured player out of match line-ups, training and attendance the moment the injury is logged, and notifies the team.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686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🏃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44348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Mandatory Fitness Test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a passing return-to-play fitness test before the player flips to RECOVERED and is restored as AVAILABLE.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77724" cy="548640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Advanced Injury Management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24128"/>
            <a:ext cx="11430000" cy="5468112"/>
          </a:xfrm>
          <a:prstGeom prst="roundRect">
            <a:avLst>
              <a:gd name="adj" fmla="val 836"/>
            </a:avLst>
          </a:prstGeom>
          <a:solidFill>
            <a:srgbClr val="0B1626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pic>
        <p:nvPicPr>
          <p:cNvPr id="5" name="Image 0" descr="../documentation/screenshots/new-medical-lifecycle.PNG">    </p:cNvPr>
          <p:cNvPicPr>
            <a:picLocks noChangeAspect="1"/>
          </p:cNvPicPr>
          <p:nvPr/>
        </p:nvPicPr>
        <p:blipFill>
          <a:blip r:embed="rId2"/>
          <a:srcRect l="-56401" r="-56401" t="0" b="0"/>
          <a:stretch/>
        </p:blipFill>
        <p:spPr>
          <a:xfrm>
            <a:off x="457200" y="1115568"/>
            <a:ext cx="11247120" cy="52852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38160" y="65105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new-medical-lifecycle.PNG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7724" cy="676656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🏃  </a:t>
            </a:r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Plan-Driven Training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59536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season plan to scored session, one squad at a time.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📝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8288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 Plans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Anchors one plan to a single team and sport, with a start-to-end date range, training type, goals and focus that every session inherits.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📅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269748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Sessions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Places each session at its own date and time inside the plan's range, then lists them in chronological order with a done count.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🎯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35661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Ordered Drills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Stamps each drill with a category, duration and sequence, and rejects the session if the drills' total minutes reach the session length.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686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✅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44348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Squad Attendance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Records a per-player status and offers only non-injured players who belong to that plan's team for call-up.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77724" cy="548640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Plan-Driven Training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24128"/>
            <a:ext cx="11430000" cy="5468112"/>
          </a:xfrm>
          <a:prstGeom prst="roundRect">
            <a:avLst>
              <a:gd name="adj" fmla="val 836"/>
            </a:avLst>
          </a:prstGeom>
          <a:solidFill>
            <a:srgbClr val="0B1626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pic>
        <p:nvPicPr>
          <p:cNvPr id="5" name="Image 0" descr="../documentation/screenshots/fig-training.png">    </p:cNvPr>
          <p:cNvPicPr>
            <a:picLocks noChangeAspect="1"/>
          </p:cNvPicPr>
          <p:nvPr/>
        </p:nvPicPr>
        <p:blipFill>
          <a:blip r:embed="rId2"/>
          <a:srcRect l="-56401" r="-56401" t="0" b="0"/>
          <a:stretch/>
        </p:blipFill>
        <p:spPr>
          <a:xfrm>
            <a:off x="457200" y="1115568"/>
            <a:ext cx="11247120" cy="52852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38160" y="65105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fig-training.png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7724" cy="676656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🔍  </a:t>
            </a:r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Scouting &amp; Sponsorship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59536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Scout reports on prospects and sponsor-offer negotiation.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📝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8288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Sign-or-pass reports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Scouts log structured reports on external prospects.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269748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Sponsor negotiation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Offers move through pending, stale and accepted states.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🔗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35661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Tied to fixtures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 attach to the players and matches they were scouted at.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77724" cy="548640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Scouting &amp; Sponsorship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24128"/>
            <a:ext cx="11430000" cy="5468112"/>
          </a:xfrm>
          <a:prstGeom prst="roundRect">
            <a:avLst>
              <a:gd name="adj" fmla="val 836"/>
            </a:avLst>
          </a:prstGeom>
          <a:solidFill>
            <a:srgbClr val="0B1626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pic>
        <p:nvPicPr>
          <p:cNvPr id="5" name="Image 0" descr="../documentation/screenshots/fig-scouting.png">    </p:cNvPr>
          <p:cNvPicPr>
            <a:picLocks noChangeAspect="1"/>
          </p:cNvPicPr>
          <p:nvPr/>
        </p:nvPicPr>
        <p:blipFill>
          <a:blip r:embed="rId2"/>
          <a:srcRect l="-56401" r="-56401" t="0" b="0"/>
          <a:stretch/>
        </p:blipFill>
        <p:spPr>
          <a:xfrm>
            <a:off x="457200" y="1115568"/>
            <a:ext cx="11247120" cy="52852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38160" y="65105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fig-scouting.png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7724" cy="676656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</a:t>
            </a:r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Messaging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59536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Club-wide group chat over a live socket.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⚡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8288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WebSocket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Messages, reactions, replies and read receipts in real time.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🔁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269748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Polling fallback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Falls back to polling when the socket is unavailable.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👥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35661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Team-scoped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and players only — fans stay on the spectator surface.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77724" cy="548640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Messaging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24128"/>
            <a:ext cx="11430000" cy="5468112"/>
          </a:xfrm>
          <a:prstGeom prst="roundRect">
            <a:avLst>
              <a:gd name="adj" fmla="val 836"/>
            </a:avLst>
          </a:prstGeom>
          <a:solidFill>
            <a:srgbClr val="0B1626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pic>
        <p:nvPicPr>
          <p:cNvPr id="5" name="Image 0" descr="../documentation/screenshots/fig-messages.png">    </p:cNvPr>
          <p:cNvPicPr>
            <a:picLocks noChangeAspect="1"/>
          </p:cNvPicPr>
          <p:nvPr/>
        </p:nvPicPr>
        <p:blipFill>
          <a:blip r:embed="rId2"/>
          <a:srcRect l="-56401" r="-56401" t="0" b="0"/>
          <a:stretch/>
        </p:blipFill>
        <p:spPr>
          <a:xfrm>
            <a:off x="457200" y="1115568"/>
            <a:ext cx="11247120" cy="52852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38160" y="65105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fig-messages.png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7724" cy="676656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🤖  </a:t>
            </a:r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 &amp; ML Predictions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59536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Match-outcome and player-rating predictions on real data.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📊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8288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dashboards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Aggregates team, player and training KPIs.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🔮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269748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 predictor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Python/FastAPI service forecasts match outcomes.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⭐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35661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Player ratings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0–100 ratings inform selection and scouting.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77724" cy="548640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 &amp; ML Predictions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24128"/>
            <a:ext cx="11430000" cy="5468112"/>
          </a:xfrm>
          <a:prstGeom prst="roundRect">
            <a:avLst>
              <a:gd name="adj" fmla="val 836"/>
            </a:avLst>
          </a:prstGeom>
          <a:solidFill>
            <a:srgbClr val="0B1626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pic>
        <p:nvPicPr>
          <p:cNvPr id="5" name="Image 0" descr="../documentation/screenshots/fig-reports.png">    </p:cNvPr>
          <p:cNvPicPr>
            <a:picLocks noChangeAspect="1"/>
          </p:cNvPicPr>
          <p:nvPr/>
        </p:nvPicPr>
        <p:blipFill>
          <a:blip r:embed="rId2"/>
          <a:srcRect l="-56401" r="-56401" t="0" b="0"/>
          <a:stretch/>
        </p:blipFill>
        <p:spPr>
          <a:xfrm>
            <a:off x="457200" y="1115568"/>
            <a:ext cx="11247120" cy="52852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38160" y="65105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fig-reports.png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7724" cy="676656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🔔  </a:t>
            </a:r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Notifications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59536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whole club, kept in the loop in real time.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🔔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8288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Top-bar bell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Injuries, goals, transfers and report-ready events surface instantly.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📨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269748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Event-driven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Kafka events fan out to the notification service.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🗂️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35661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Alerts center —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full history of everything that happened.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77724" cy="548640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Notifications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24128"/>
            <a:ext cx="11430000" cy="5468112"/>
          </a:xfrm>
          <a:prstGeom prst="roundRect">
            <a:avLst>
              <a:gd name="adj" fmla="val 836"/>
            </a:avLst>
          </a:prstGeom>
          <a:solidFill>
            <a:srgbClr val="0B1626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pic>
        <p:nvPicPr>
          <p:cNvPr id="5" name="Image 0" descr="../documentation/screenshots/fig-notifications.png">    </p:cNvPr>
          <p:cNvPicPr>
            <a:picLocks noChangeAspect="1"/>
          </p:cNvPicPr>
          <p:nvPr/>
        </p:nvPicPr>
        <p:blipFill>
          <a:blip r:embed="rId2"/>
          <a:srcRect l="-56401" r="-56401" t="0" b="0"/>
          <a:stretch/>
        </p:blipFill>
        <p:spPr>
          <a:xfrm>
            <a:off x="457200" y="1115568"/>
            <a:ext cx="11247120" cy="52852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38160" y="65105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fig-notifications.png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103120"/>
            <a:ext cx="1216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👁️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0" y="3200400"/>
            <a:ext cx="1216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 Views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411480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platform, a different surface for every login.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77724" cy="548640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👑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Administrator — what they see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24128"/>
            <a:ext cx="11430000" cy="5468112"/>
          </a:xfrm>
          <a:prstGeom prst="roundRect">
            <a:avLst>
              <a:gd name="adj" fmla="val 1003"/>
            </a:avLst>
          </a:prstGeom>
          <a:solidFill>
            <a:srgbClr val="0E1E33"/>
          </a:solidFill>
          <a:ln w="19050">
            <a:solidFill>
              <a:srgbClr val="27B6D6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0" y="2798064"/>
            <a:ext cx="1216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📷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0" y="3712464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 shot-view-admin.png  into documentation/screenshots/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0" y="4215384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access — every section, plus User Management.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38160" y="65105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shot-view-admin.png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77724" cy="548640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🏢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 Manager — what they see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24128"/>
            <a:ext cx="11430000" cy="5468112"/>
          </a:xfrm>
          <a:prstGeom prst="roundRect">
            <a:avLst>
              <a:gd name="adj" fmla="val 1003"/>
            </a:avLst>
          </a:prstGeom>
          <a:solidFill>
            <a:srgbClr val="0E1E33"/>
          </a:solidFill>
          <a:ln w="19050">
            <a:solidFill>
              <a:srgbClr val="27B6D6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0" y="2798064"/>
            <a:ext cx="1216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📷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0" y="3712464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 shot-view-sportmanager.png  into documentation/screenshots/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0" y="4215384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Squad, staff, matches, scouting, contracts and sponsors.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38160" y="65105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shot-view-sportmanager.png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77724" cy="548640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 Coach — what they see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24128"/>
            <a:ext cx="11430000" cy="5468112"/>
          </a:xfrm>
          <a:prstGeom prst="roundRect">
            <a:avLst>
              <a:gd name="adj" fmla="val 1003"/>
            </a:avLst>
          </a:prstGeom>
          <a:solidFill>
            <a:srgbClr val="0E1E33"/>
          </a:solidFill>
          <a:ln w="19050">
            <a:solidFill>
              <a:srgbClr val="27B6D6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0" y="2798064"/>
            <a:ext cx="1216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📷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0" y="3712464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 shot-view-headcoach.png  into documentation/screenshots/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0" y="4215384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Training, line-ups, matches, medical and analytics.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38160" y="65105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shot-view-headcoach.png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77724" cy="548640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🩺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Doctor — what they see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24128"/>
            <a:ext cx="11430000" cy="5468112"/>
          </a:xfrm>
          <a:prstGeom prst="roundRect">
            <a:avLst>
              <a:gd name="adj" fmla="val 1003"/>
            </a:avLst>
          </a:prstGeom>
          <a:solidFill>
            <a:srgbClr val="0E1E33"/>
          </a:solidFill>
          <a:ln w="19050">
            <a:solidFill>
              <a:srgbClr val="27B6D6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0" y="2798064"/>
            <a:ext cx="1216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📷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0" y="3712464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 shot-view-doctor.png  into documentation/screenshots/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0" y="4215384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medical module, players and training availability.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38160" y="65105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shot-view-doctor.png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77724" cy="548640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🔍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Scout — what they see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24128"/>
            <a:ext cx="11430000" cy="5468112"/>
          </a:xfrm>
          <a:prstGeom prst="roundRect">
            <a:avLst>
              <a:gd name="adj" fmla="val 1003"/>
            </a:avLst>
          </a:prstGeom>
          <a:solidFill>
            <a:srgbClr val="0E1E33"/>
          </a:solidFill>
          <a:ln w="19050">
            <a:solidFill>
              <a:srgbClr val="27B6D6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0" y="2798064"/>
            <a:ext cx="1216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📷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0" y="3712464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 shot-view-scout.png  into documentation/screenshots/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0" y="4215384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Scouting, prospects, matches and head-to-head.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38160" y="65105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shot-view-scout.png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77724" cy="548640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👤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Player — what they see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24128"/>
            <a:ext cx="11430000" cy="5468112"/>
          </a:xfrm>
          <a:prstGeom prst="roundRect">
            <a:avLst>
              <a:gd name="adj" fmla="val 1003"/>
            </a:avLst>
          </a:prstGeom>
          <a:solidFill>
            <a:srgbClr val="0E1E33"/>
          </a:solidFill>
          <a:ln w="19050">
            <a:solidFill>
              <a:srgbClr val="27B6D6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0" y="2798064"/>
            <a:ext cx="1216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📷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0" y="3712464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 shot-view-player.png  into documentation/screenshots/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0" y="4215384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read-only view of club, matches, training and own medical.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38160" y="65105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shot-view-player.png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77724" cy="548640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92608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🎟️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Fan — what they see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24128"/>
            <a:ext cx="11430000" cy="5468112"/>
          </a:xfrm>
          <a:prstGeom prst="roundRect">
            <a:avLst>
              <a:gd name="adj" fmla="val 1003"/>
            </a:avLst>
          </a:prstGeom>
          <a:solidFill>
            <a:srgbClr val="0E1E33"/>
          </a:solidFill>
          <a:ln w="19050">
            <a:solidFill>
              <a:srgbClr val="27B6D6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0" y="2798064"/>
            <a:ext cx="1216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📷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0" y="3712464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 shot-view-fan.png  into documentation/screenshots/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0" y="4215384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Spectator-only — club hub, trophies, competitions and matches.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38160" y="65105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shot-view-fan.png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27B6D6"/>
          </a:solidFill>
          <a:ln/>
          <a:effectLst>
            <a:outerShdw sx="100000" sy="100000" kx="0" ky="0" algn="bl" rotWithShape="0" blurRad="114300" dist="38100" dir="5400000">
              <a:srgbClr val="000000">
                <a:alpha val="34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532120" y="18288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A15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▶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342900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🎬  LIVE DEMO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0" y="3840480"/>
            <a:ext cx="1216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Sportify in Action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194560" y="46634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short walkthrough — login, the role dashboard, a live match, the medical room and team messaging.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794760" y="5486400"/>
            <a:ext cx="4572000" cy="640080"/>
          </a:xfrm>
          <a:prstGeom prst="roundRect">
            <a:avLst>
              <a:gd name="adj" fmla="val 14286"/>
            </a:avLst>
          </a:prstGeom>
          <a:solidFill>
            <a:srgbClr val="0F2840"/>
          </a:solidFill>
          <a:ln w="12700">
            <a:solidFill>
              <a:srgbClr val="27B6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94760" y="54864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Insert → Video here, or run the live app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7724" cy="676656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🚀  </a:t>
            </a:r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Work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59536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Sportify goes next: mobile, ML and the wider sporting world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3456432" cy="2116836"/>
          </a:xfrm>
          <a:prstGeom prst="roundRect">
            <a:avLst>
              <a:gd name="adj" fmla="val 4320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77393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📱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43584" y="1755648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Native Mobile Apps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86384" y="2249424"/>
            <a:ext cx="3035808" cy="1385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Ships dedicated iOS and Android apps with push notifications so staff and players manage the club on the move.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52544" y="1627632"/>
            <a:ext cx="3456432" cy="2116836"/>
          </a:xfrm>
          <a:prstGeom prst="roundRect">
            <a:avLst>
              <a:gd name="adj" fmla="val 4320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17136" y="177393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🧠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29200" y="1755648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Deeper ML Models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72000" y="2249424"/>
            <a:ext cx="3035808" cy="1385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Extends the Python ML service with richer predictions fed by live in-match features, not just pre-game stats.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38160" y="1627632"/>
            <a:ext cx="3456432" cy="2116836"/>
          </a:xfrm>
          <a:prstGeom prst="roundRect">
            <a:avLst>
              <a:gd name="adj" fmla="val 4320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302752" y="177393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🏅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814816" y="1755648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Sports &amp; Federations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357616" y="2249424"/>
            <a:ext cx="3035808" cy="1385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Expands the multi-sport engine with new disciplines and official federation data feeds beyond football-data.org.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037076"/>
            <a:ext cx="3456432" cy="2116836"/>
          </a:xfrm>
          <a:prstGeom prst="roundRect">
            <a:avLst>
              <a:gd name="adj" fmla="val 4320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31520" y="41833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⌚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43584" y="4165092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Wearables &amp; Biometrics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86384" y="4658868"/>
            <a:ext cx="3035808" cy="1385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Integrates wearables to stream training-load and biometric data straight into player medical and fitness profiles.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352544" y="4037076"/>
            <a:ext cx="3456432" cy="2116836"/>
          </a:xfrm>
          <a:prstGeom prst="roundRect">
            <a:avLst>
              <a:gd name="adj" fmla="val 4320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17136" y="41833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🎥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029200" y="4165092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Video &amp; Streaming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72000" y="4658868"/>
            <a:ext cx="3035808" cy="1385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Attaches live video and clip streaming to the match timeline so every key event links to its footage.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7724" cy="676656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 </a:t>
            </a:r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Conclusion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68680" y="16916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turns a club's scattered, manual operations into one secure, real-time, data-driven platform.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96112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🧱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301752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production-grade microservices architecture, deployed with Docker.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96112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⚽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63040" y="3730752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competitions, a live-match engine and a complete medical workflow.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96112" y="4443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🔐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63040" y="4443984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Role-based security end to end, with analytics and ML predictions on top.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96112" y="5157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🚀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63040" y="5157216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6D2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extensible foundation ready for mobile, more sports and richer models.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7724" cy="676656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👥  </a:t>
            </a:r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Members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59536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Supervised by Dr. Shaimaa Saber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3502152" cy="1097280"/>
          </a:xfrm>
          <a:prstGeom prst="roundRect">
            <a:avLst>
              <a:gd name="adj" fmla="val 10000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" y="2084832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66928" y="2468880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Mariam Mohamed Ahmed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98264" y="1920240"/>
            <a:ext cx="3502152" cy="1097280"/>
          </a:xfrm>
          <a:prstGeom prst="roundRect">
            <a:avLst>
              <a:gd name="adj" fmla="val 10000"/>
            </a:avLst>
          </a:prstGeom>
          <a:solidFill>
            <a:srgbClr val="1B3149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398264" y="2084832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398264" y="2468880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Mohamed Abdellatief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1920240"/>
            <a:ext cx="3502152" cy="1097280"/>
          </a:xfrm>
          <a:prstGeom prst="roundRect">
            <a:avLst>
              <a:gd name="adj" fmla="val 10000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0" y="2084832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229600" y="2468880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Eman Ahmed Elboghdady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3383280"/>
            <a:ext cx="3502152" cy="1097280"/>
          </a:xfrm>
          <a:prstGeom prst="roundRect">
            <a:avLst>
              <a:gd name="adj" fmla="val 10000"/>
            </a:avLst>
          </a:prstGeom>
          <a:solidFill>
            <a:srgbClr val="1B3149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66928" y="3547872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66928" y="3931920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Khaled Mohamed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98264" y="3383280"/>
            <a:ext cx="3502152" cy="1097280"/>
          </a:xfrm>
          <a:prstGeom prst="roundRect">
            <a:avLst>
              <a:gd name="adj" fmla="val 10000"/>
            </a:avLst>
          </a:prstGeom>
          <a:solidFill>
            <a:srgbClr val="16273C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398264" y="3547872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398264" y="3931920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Shahd Abdelaziz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229600" y="3383280"/>
            <a:ext cx="3502152" cy="1097280"/>
          </a:xfrm>
          <a:prstGeom prst="roundRect">
            <a:avLst>
              <a:gd name="adj" fmla="val 10000"/>
            </a:avLst>
          </a:prstGeom>
          <a:solidFill>
            <a:srgbClr val="1B3149"/>
          </a:solidFill>
          <a:ln w="12700">
            <a:solidFill>
              <a:srgbClr val="2B405C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229600" y="3547872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229600" y="3931920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Mohamed Salem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0" y="594360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Menoufia University · Faculty of Computers and Information · Graduation Project 2025 – 2026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 ·  MSCMS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37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737360"/>
            <a:ext cx="1216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</a:rPr>
              <a:t>🙌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0" y="2926080"/>
            <a:ext cx="1216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Thanks for your attention!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0" y="3977640"/>
            <a:ext cx="1216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7B6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&amp; discussion welcome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0" y="502920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8A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Sportify · MSCMS  —  a cloud-native multi-sport club management platform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6455664"/>
            <a:ext cx="3840480" cy="20117"/>
          </a:xfrm>
          <a:prstGeom prst="rect">
            <a:avLst/>
          </a:prstGeom>
          <a:solidFill>
            <a:srgbClr val="27B6D6"/>
          </a:solidFill>
          <a:ln/>
        </p:spPr>
      </p:sp>
    </p:spTree>
  </p:cSld>
  <p:clrMapOvr>
    <a:masterClrMapping/>
  </p:clrMapOvr>
  <p:transition spd="med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Sportify (MSCMS) — Project Overview</dc:title>
  <dc:subject>PptxGenJS Presentation</dc:subject>
  <dc:creator>Sportify Team</dc:creator>
  <cp:lastModifiedBy>Sportify Team</cp:lastModifiedBy>
  <cp:revision>1</cp:revision>
  <dcterms:created xsi:type="dcterms:W3CDTF">2026-06-26T11:42:43Z</dcterms:created>
  <dcterms:modified xsi:type="dcterms:W3CDTF">2026-06-26T11:42:43Z</dcterms:modified>
</cp:coreProperties>
</file>