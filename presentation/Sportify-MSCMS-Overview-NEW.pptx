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notesMasterIdLst>
    <p:notesMasterId r:id="rId6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8.xml"/><Relationship Id="rId6" Type="http://schemas.openxmlformats.org/officeDocument/2006/relationships/slide" Target="slide11.xml"/><Relationship Id="rId7" Type="http://schemas.openxmlformats.org/officeDocument/2006/relationships/slide" Target="slide34.xml"/><Relationship Id="rId8" Type="http://schemas.openxmlformats.org/officeDocument/2006/relationships/slide" Target="slide57.xml"/><Relationship Id="rId9" Type="http://schemas.openxmlformats.org/officeDocument/2006/relationships/slide" Target="slide60.xml"/><Relationship Id="rId10" Type="http://schemas.openxmlformats.org/officeDocument/2006/relationships/slide" Target="slide62.xml"/><Relationship Id="rId1" Type="http://schemas.openxmlformats.org/officeDocument/2006/relationships/image" Target="../media/Slide-2-image-1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3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4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5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6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7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8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9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10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11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12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13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14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15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16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17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18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19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20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21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22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23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24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25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26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27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28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29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30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31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32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33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34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35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36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37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38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39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40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41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42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43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44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45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46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47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48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49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50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51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52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53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54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55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56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57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58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59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60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61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62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63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1097280"/>
            <a:ext cx="12801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pic>
        <p:nvPicPr>
          <p:cNvPr id="3" name="Image 0" descr="assets/menoufia-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41832" y="1197864"/>
            <a:ext cx="1078992" cy="10789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25603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</a:t>
            </a:r>
            <a:endParaRPr lang="en-US" sz="6200" dirty="0"/>
          </a:p>
        </p:txBody>
      </p:sp>
      <p:sp>
        <p:nvSpPr>
          <p:cNvPr id="5" name="Text 2"/>
          <p:cNvSpPr/>
          <p:nvPr/>
        </p:nvSpPr>
        <p:spPr>
          <a:xfrm>
            <a:off x="886968" y="35844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Cloud-Native </a:t>
            </a:r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Multi-Sport Club Management System (MSCMS)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886968" y="4261104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modern multi-sport club should not run on a dozen apps and a hundred spreadsheets. Sportify brings squads, live matches, medical, plan-driven training, real competitions, analytics and fans into one secure, role-aware platform.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86968" y="58064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Graduation Project · Menoufia University · Faculty of Computers and Information · 2025-2026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524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any section to jump straight to it</a:t>
            </a:r>
            <a:endParaRPr lang="en-US" sz="1300" dirty="0"/>
          </a:p>
        </p:txBody>
      </p:sp>
      <p:sp>
        <p:nvSpPr>
          <p:cNvPr id="6" name="Shape 4">
            <a:hlinkClick r:id="rId2" tooltip="Go to The Problem" action="ppaction://hlinksldjump"/>
          </p:cNvPr>
          <p:cNvSpPr/>
          <p:nvPr/>
        </p:nvSpPr>
        <p:spPr>
          <a:xfrm>
            <a:off x="566928" y="1463040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7" name="Text 5">
            <a:hlinkClick r:id="rId2" tooltip="Go to The Problem" action="ppaction://hlinksldjump"/>
          </p:cNvPr>
          <p:cNvSpPr/>
          <p:nvPr/>
        </p:nvSpPr>
        <p:spPr>
          <a:xfrm>
            <a:off x="768096" y="146304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Go to The Proble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endParaRPr lang="en-US" sz="2100" dirty="0"/>
          </a:p>
        </p:txBody>
      </p:sp>
      <p:sp>
        <p:nvSpPr>
          <p:cNvPr id="8" name="Text 6">
            <a:hlinkClick r:id="rId2" tooltip="Go to The Problem" action="ppaction://hlinksldjump"/>
          </p:cNvPr>
          <p:cNvSpPr/>
          <p:nvPr/>
        </p:nvSpPr>
        <p:spPr>
          <a:xfrm>
            <a:off x="1618488" y="15819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Go to The Proble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Problem</a:t>
            </a:r>
            <a:endParaRPr lang="en-US" sz="1450" dirty="0"/>
          </a:p>
        </p:txBody>
      </p:sp>
      <p:sp>
        <p:nvSpPr>
          <p:cNvPr id="9" name="Text 7">
            <a:hlinkClick r:id="rId2" tooltip="Go to The Problem" action="ppaction://hlinksldjump"/>
          </p:cNvPr>
          <p:cNvSpPr/>
          <p:nvPr/>
        </p:nvSpPr>
        <p:spPr>
          <a:xfrm>
            <a:off x="1618488" y="19202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Go to The Proble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a unified platform is needed</a:t>
            </a:r>
            <a:endParaRPr lang="en-US" sz="1050" dirty="0"/>
          </a:p>
        </p:txBody>
      </p:sp>
      <p:sp>
        <p:nvSpPr>
          <p:cNvPr id="10" name="Shape 8">
            <a:hlinkClick r:id="rId3" tooltip="Go to Overview and Purpose" action="ppaction://hlinksldjump"/>
          </p:cNvPr>
          <p:cNvSpPr/>
          <p:nvPr/>
        </p:nvSpPr>
        <p:spPr>
          <a:xfrm>
            <a:off x="6327648" y="1463040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1B3149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>
            <a:hlinkClick r:id="rId3" tooltip="Go to Overview and Purpose" action="ppaction://hlinksldjump"/>
          </p:cNvPr>
          <p:cNvSpPr/>
          <p:nvPr/>
        </p:nvSpPr>
        <p:spPr>
          <a:xfrm>
            <a:off x="6528816" y="146304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action="ppaction://hlinksldjump" tooltip="Go to Overview and Purpos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</a:t>
            </a:r>
            <a:endParaRPr lang="en-US" sz="2100" dirty="0"/>
          </a:p>
        </p:txBody>
      </p:sp>
      <p:sp>
        <p:nvSpPr>
          <p:cNvPr id="12" name="Text 10">
            <a:hlinkClick r:id="rId3" tooltip="Go to Overview and Purpose" action="ppaction://hlinksldjump"/>
          </p:cNvPr>
          <p:cNvSpPr/>
          <p:nvPr/>
        </p:nvSpPr>
        <p:spPr>
          <a:xfrm>
            <a:off x="7379208" y="15819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action="ppaction://hlinksldjump" tooltip="Go to Overview and Purpos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Overview and Purpose</a:t>
            </a:r>
            <a:endParaRPr lang="en-US" sz="1450" dirty="0"/>
          </a:p>
        </p:txBody>
      </p:sp>
      <p:sp>
        <p:nvSpPr>
          <p:cNvPr id="13" name="Text 11">
            <a:hlinkClick r:id="rId3" tooltip="Go to Overview and Purpose" action="ppaction://hlinksldjump"/>
          </p:cNvPr>
          <p:cNvSpPr/>
          <p:nvPr/>
        </p:nvSpPr>
        <p:spPr>
          <a:xfrm>
            <a:off x="7379208" y="19202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action="ppaction://hlinksldjump" tooltip="Go to Overview and Purpos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it is, how it works, who it helps</a:t>
            </a:r>
            <a:endParaRPr lang="en-US" sz="1050" dirty="0"/>
          </a:p>
        </p:txBody>
      </p:sp>
      <p:sp>
        <p:nvSpPr>
          <p:cNvPr id="14" name="Shape 12">
            <a:hlinkClick r:id="rId4" tooltip="Go to Solution and Goals" action="ppaction://hlinksldjump"/>
          </p:cNvPr>
          <p:cNvSpPr/>
          <p:nvPr/>
        </p:nvSpPr>
        <p:spPr>
          <a:xfrm>
            <a:off x="566928" y="2450592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>
            <a:hlinkClick r:id="rId4" tooltip="Go to Solution and Goals" action="ppaction://hlinksldjump"/>
          </p:cNvPr>
          <p:cNvSpPr/>
          <p:nvPr/>
        </p:nvSpPr>
        <p:spPr>
          <a:xfrm>
            <a:off x="768096" y="2450592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action="ppaction://hlinksldjump" tooltip="Go to Solution and Goal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lang="en-US" sz="2100" dirty="0"/>
          </a:p>
        </p:txBody>
      </p:sp>
      <p:sp>
        <p:nvSpPr>
          <p:cNvPr id="16" name="Text 14">
            <a:hlinkClick r:id="rId4" tooltip="Go to Solution and Goals" action="ppaction://hlinksldjump"/>
          </p:cNvPr>
          <p:cNvSpPr/>
          <p:nvPr/>
        </p:nvSpPr>
        <p:spPr>
          <a:xfrm>
            <a:off x="1618488" y="256946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action="ppaction://hlinksldjump" tooltip="Go to Solution and Goal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Solution and Goals</a:t>
            </a:r>
            <a:endParaRPr lang="en-US" sz="1450" dirty="0"/>
          </a:p>
        </p:txBody>
      </p:sp>
      <p:sp>
        <p:nvSpPr>
          <p:cNvPr id="17" name="Text 15">
            <a:hlinkClick r:id="rId4" tooltip="Go to Solution and Goals" action="ppaction://hlinksldjump"/>
          </p:cNvPr>
          <p:cNvSpPr/>
          <p:nvPr/>
        </p:nvSpPr>
        <p:spPr>
          <a:xfrm>
            <a:off x="1618488" y="290779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action="ppaction://hlinksldjump" tooltip="Go to Solution and Goal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One cloud-native, role-aware platform</a:t>
            </a:r>
            <a:endParaRPr lang="en-US" sz="1050" dirty="0"/>
          </a:p>
        </p:txBody>
      </p:sp>
      <p:sp>
        <p:nvSpPr>
          <p:cNvPr id="18" name="Shape 16">
            <a:hlinkClick r:id="rId5" tooltip="Go to Architecture and Tech" action="ppaction://hlinksldjump"/>
          </p:cNvPr>
          <p:cNvSpPr/>
          <p:nvPr/>
        </p:nvSpPr>
        <p:spPr>
          <a:xfrm>
            <a:off x="6327648" y="2450592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1B3149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9" name="Text 17">
            <a:hlinkClick r:id="rId5" tooltip="Go to Architecture and Tech" action="ppaction://hlinksldjump"/>
          </p:cNvPr>
          <p:cNvSpPr/>
          <p:nvPr/>
        </p:nvSpPr>
        <p:spPr>
          <a:xfrm>
            <a:off x="6528816" y="2450592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5" action="ppaction://hlinksldjump" tooltip="Go to Architecture and Tec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lang="en-US" sz="2100" dirty="0"/>
          </a:p>
        </p:txBody>
      </p:sp>
      <p:sp>
        <p:nvSpPr>
          <p:cNvPr id="20" name="Text 18">
            <a:hlinkClick r:id="rId5" tooltip="Go to Architecture and Tech" action="ppaction://hlinksldjump"/>
          </p:cNvPr>
          <p:cNvSpPr/>
          <p:nvPr/>
        </p:nvSpPr>
        <p:spPr>
          <a:xfrm>
            <a:off x="7379208" y="256946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5" action="ppaction://hlinksldjump" tooltip="Go to Architecture and Tec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Architecture and Tech</a:t>
            </a:r>
            <a:endParaRPr lang="en-US" sz="1450" dirty="0"/>
          </a:p>
        </p:txBody>
      </p:sp>
      <p:sp>
        <p:nvSpPr>
          <p:cNvPr id="21" name="Text 19">
            <a:hlinkClick r:id="rId5" tooltip="Go to Architecture and Tech" action="ppaction://hlinksldjump"/>
          </p:cNvPr>
          <p:cNvSpPr/>
          <p:nvPr/>
        </p:nvSpPr>
        <p:spPr>
          <a:xfrm>
            <a:off x="7379208" y="290779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5" action="ppaction://hlinksldjump" tooltip="Go to Architecture and Tec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Microservices, gateway, AI and the stack</a:t>
            </a:r>
            <a:endParaRPr lang="en-US" sz="1050" dirty="0"/>
          </a:p>
        </p:txBody>
      </p:sp>
      <p:sp>
        <p:nvSpPr>
          <p:cNvPr id="22" name="Shape 20">
            <a:hlinkClick r:id="rId6" tooltip="Go to User Roles and Access" action="ppaction://hlinksldjump"/>
          </p:cNvPr>
          <p:cNvSpPr/>
          <p:nvPr/>
        </p:nvSpPr>
        <p:spPr>
          <a:xfrm>
            <a:off x="566928" y="3438144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3" name="Text 21">
            <a:hlinkClick r:id="rId6" tooltip="Go to User Roles and Access" action="ppaction://hlinksldjump"/>
          </p:cNvPr>
          <p:cNvSpPr/>
          <p:nvPr/>
        </p:nvSpPr>
        <p:spPr>
          <a:xfrm>
            <a:off x="768096" y="3438144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6" action="ppaction://hlinksldjump" tooltip="Go to User Roles and Acc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05</a:t>
            </a:r>
            <a:endParaRPr lang="en-US" sz="2100" dirty="0"/>
          </a:p>
        </p:txBody>
      </p:sp>
      <p:sp>
        <p:nvSpPr>
          <p:cNvPr id="24" name="Text 22">
            <a:hlinkClick r:id="rId6" tooltip="Go to User Roles and Access" action="ppaction://hlinksldjump"/>
          </p:cNvPr>
          <p:cNvSpPr/>
          <p:nvPr/>
        </p:nvSpPr>
        <p:spPr>
          <a:xfrm>
            <a:off x="1618488" y="355701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6" action="ppaction://hlinksldjump" tooltip="Go to User Roles and Acc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 Roles and Access</a:t>
            </a:r>
            <a:endParaRPr lang="en-US" sz="1450" dirty="0"/>
          </a:p>
        </p:txBody>
      </p:sp>
      <p:sp>
        <p:nvSpPr>
          <p:cNvPr id="25" name="Text 23">
            <a:hlinkClick r:id="rId6" tooltip="Go to User Roles and Access" action="ppaction://hlinksldjump"/>
          </p:cNvPr>
          <p:cNvSpPr/>
          <p:nvPr/>
        </p:nvSpPr>
        <p:spPr>
          <a:xfrm>
            <a:off x="1618488" y="389534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6" action="ppaction://hlinksldjump" tooltip="Go to User Roles and Acc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tailored, secure surface per role</a:t>
            </a:r>
            <a:endParaRPr lang="en-US" sz="1050" dirty="0"/>
          </a:p>
        </p:txBody>
      </p:sp>
      <p:sp>
        <p:nvSpPr>
          <p:cNvPr id="26" name="Shape 24">
            <a:hlinkClick r:id="rId7" tooltip="Go to Key Features" action="ppaction://hlinksldjump"/>
          </p:cNvPr>
          <p:cNvSpPr/>
          <p:nvPr/>
        </p:nvSpPr>
        <p:spPr>
          <a:xfrm>
            <a:off x="6327648" y="3438144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1B3149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7" name="Text 25">
            <a:hlinkClick r:id="rId7" tooltip="Go to Key Features" action="ppaction://hlinksldjump"/>
          </p:cNvPr>
          <p:cNvSpPr/>
          <p:nvPr/>
        </p:nvSpPr>
        <p:spPr>
          <a:xfrm>
            <a:off x="6528816" y="3438144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7" action="ppaction://hlinksldjump" tooltip="Go to Key Featur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06</a:t>
            </a:r>
            <a:endParaRPr lang="en-US" sz="2100" dirty="0"/>
          </a:p>
        </p:txBody>
      </p:sp>
      <p:sp>
        <p:nvSpPr>
          <p:cNvPr id="28" name="Text 26">
            <a:hlinkClick r:id="rId7" tooltip="Go to Key Features" action="ppaction://hlinksldjump"/>
          </p:cNvPr>
          <p:cNvSpPr/>
          <p:nvPr/>
        </p:nvSpPr>
        <p:spPr>
          <a:xfrm>
            <a:off x="7379208" y="355701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7" action="ppaction://hlinksldjump" tooltip="Go to Key Featur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Features</a:t>
            </a:r>
            <a:endParaRPr lang="en-US" sz="1450" dirty="0"/>
          </a:p>
        </p:txBody>
      </p:sp>
      <p:sp>
        <p:nvSpPr>
          <p:cNvPr id="29" name="Text 27">
            <a:hlinkClick r:id="rId7" tooltip="Go to Key Features" action="ppaction://hlinksldjump"/>
          </p:cNvPr>
          <p:cNvSpPr/>
          <p:nvPr/>
        </p:nvSpPr>
        <p:spPr>
          <a:xfrm>
            <a:off x="7379208" y="389534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7" action="ppaction://hlinksldjump" tooltip="Go to Key Featur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Each capability, explained and shown</a:t>
            </a:r>
            <a:endParaRPr lang="en-US" sz="1050" dirty="0"/>
          </a:p>
        </p:txBody>
      </p:sp>
      <p:sp>
        <p:nvSpPr>
          <p:cNvPr id="30" name="Shape 28">
            <a:hlinkClick r:id="rId8" tooltip="Go to Future Work" action="ppaction://hlinksldjump"/>
          </p:cNvPr>
          <p:cNvSpPr/>
          <p:nvPr/>
        </p:nvSpPr>
        <p:spPr>
          <a:xfrm>
            <a:off x="566928" y="4425696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31" name="Text 29">
            <a:hlinkClick r:id="rId8" tooltip="Go to Future Work" action="ppaction://hlinksldjump"/>
          </p:cNvPr>
          <p:cNvSpPr/>
          <p:nvPr/>
        </p:nvSpPr>
        <p:spPr>
          <a:xfrm>
            <a:off x="768096" y="4425696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8" action="ppaction://hlinksldjump" tooltip="Go to Future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07</a:t>
            </a:r>
            <a:endParaRPr lang="en-US" sz="2100" dirty="0"/>
          </a:p>
        </p:txBody>
      </p:sp>
      <p:sp>
        <p:nvSpPr>
          <p:cNvPr id="32" name="Text 30">
            <a:hlinkClick r:id="rId8" tooltip="Go to Future Work" action="ppaction://hlinksldjump"/>
          </p:cNvPr>
          <p:cNvSpPr/>
          <p:nvPr/>
        </p:nvSpPr>
        <p:spPr>
          <a:xfrm>
            <a:off x="1618488" y="45445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8" action="ppaction://hlinksldjump" tooltip="Go to Future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Future Work</a:t>
            </a:r>
            <a:endParaRPr lang="en-US" sz="1450" dirty="0"/>
          </a:p>
        </p:txBody>
      </p:sp>
      <p:sp>
        <p:nvSpPr>
          <p:cNvPr id="33" name="Text 31">
            <a:hlinkClick r:id="rId8" tooltip="Go to Future Work" action="ppaction://hlinksldjump"/>
          </p:cNvPr>
          <p:cNvSpPr/>
          <p:nvPr/>
        </p:nvSpPr>
        <p:spPr>
          <a:xfrm>
            <a:off x="1618488" y="488289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8" action="ppaction://hlinksldjump" tooltip="Go to Future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Store, auctions and fan engagement</a:t>
            </a:r>
            <a:endParaRPr lang="en-US" sz="1050" dirty="0"/>
          </a:p>
        </p:txBody>
      </p:sp>
      <p:sp>
        <p:nvSpPr>
          <p:cNvPr id="34" name="Shape 32">
            <a:hlinkClick r:id="rId9" tooltip="Go to Financial Model" action="ppaction://hlinksldjump"/>
          </p:cNvPr>
          <p:cNvSpPr/>
          <p:nvPr/>
        </p:nvSpPr>
        <p:spPr>
          <a:xfrm>
            <a:off x="6327648" y="4425696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1B3149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35" name="Text 33">
            <a:hlinkClick r:id="rId9" tooltip="Go to Financial Model" action="ppaction://hlinksldjump"/>
          </p:cNvPr>
          <p:cNvSpPr/>
          <p:nvPr/>
        </p:nvSpPr>
        <p:spPr>
          <a:xfrm>
            <a:off x="6528816" y="4425696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9" action="ppaction://hlinksldjump" tooltip="Go to Financial Mod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08</a:t>
            </a:r>
            <a:endParaRPr lang="en-US" sz="2100" dirty="0"/>
          </a:p>
        </p:txBody>
      </p:sp>
      <p:sp>
        <p:nvSpPr>
          <p:cNvPr id="36" name="Text 34">
            <a:hlinkClick r:id="rId9" tooltip="Go to Financial Model" action="ppaction://hlinksldjump"/>
          </p:cNvPr>
          <p:cNvSpPr/>
          <p:nvPr/>
        </p:nvSpPr>
        <p:spPr>
          <a:xfrm>
            <a:off x="7379208" y="45445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9" action="ppaction://hlinksldjump" tooltip="Go to Financial Mod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Financial Model</a:t>
            </a:r>
            <a:endParaRPr lang="en-US" sz="1450" dirty="0"/>
          </a:p>
        </p:txBody>
      </p:sp>
      <p:sp>
        <p:nvSpPr>
          <p:cNvPr id="37" name="Text 35">
            <a:hlinkClick r:id="rId9" tooltip="Go to Financial Model" action="ppaction://hlinksldjump"/>
          </p:cNvPr>
          <p:cNvSpPr/>
          <p:nvPr/>
        </p:nvSpPr>
        <p:spPr>
          <a:xfrm>
            <a:off x="7379208" y="488289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9" action="ppaction://hlinksldjump" tooltip="Go to Financial Mod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the platform earns and sustains</a:t>
            </a:r>
            <a:endParaRPr lang="en-US" sz="1050" dirty="0"/>
          </a:p>
        </p:txBody>
      </p:sp>
      <p:sp>
        <p:nvSpPr>
          <p:cNvPr id="38" name="Shape 36">
            <a:hlinkClick r:id="rId10" tooltip="Go to Conclusion and Team" action="ppaction://hlinksldjump"/>
          </p:cNvPr>
          <p:cNvSpPr/>
          <p:nvPr/>
        </p:nvSpPr>
        <p:spPr>
          <a:xfrm>
            <a:off x="566928" y="5413248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39" name="Text 37">
            <a:hlinkClick r:id="rId10" tooltip="Go to Conclusion and Team" action="ppaction://hlinksldjump"/>
          </p:cNvPr>
          <p:cNvSpPr/>
          <p:nvPr/>
        </p:nvSpPr>
        <p:spPr>
          <a:xfrm>
            <a:off x="768096" y="5413248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0" action="ppaction://hlinksldjump" tooltip="Go to Conclusion and Tea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09</a:t>
            </a:r>
            <a:endParaRPr lang="en-US" sz="2100" dirty="0"/>
          </a:p>
        </p:txBody>
      </p:sp>
      <p:sp>
        <p:nvSpPr>
          <p:cNvPr id="40" name="Text 38">
            <a:hlinkClick r:id="rId10" tooltip="Go to Conclusion and Team" action="ppaction://hlinksldjump"/>
          </p:cNvPr>
          <p:cNvSpPr/>
          <p:nvPr/>
        </p:nvSpPr>
        <p:spPr>
          <a:xfrm>
            <a:off x="1618488" y="55321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0" action="ppaction://hlinksldjump" tooltip="Go to Conclusion and Tea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Conclusion and Team</a:t>
            </a:r>
            <a:endParaRPr lang="en-US" sz="1450" dirty="0"/>
          </a:p>
        </p:txBody>
      </p:sp>
      <p:sp>
        <p:nvSpPr>
          <p:cNvPr id="41" name="Text 39">
            <a:hlinkClick r:id="rId10" tooltip="Go to Conclusion and Team" action="ppaction://hlinksldjump"/>
          </p:cNvPr>
          <p:cNvSpPr/>
          <p:nvPr/>
        </p:nvSpPr>
        <p:spPr>
          <a:xfrm>
            <a:off x="1618488" y="587044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0" action="ppaction://hlinksldjump" tooltip="Go to Conclusion and Tea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Wrap-up and the people behind it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524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a multi-sport club struggles without a unified platform</a:t>
            </a:r>
            <a:endParaRPr lang="en-US" sz="1300" dirty="0"/>
          </a:p>
        </p:txBody>
      </p:sp>
      <p:sp>
        <p:nvSpPr>
          <p:cNvPr id="6" name="Text 4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591056"/>
            <a:ext cx="5349240" cy="976122"/>
          </a:xfrm>
          <a:prstGeom prst="roundRect">
            <a:avLst>
              <a:gd name="adj" fmla="val 9368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182880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9" name="Text 7"/>
          <p:cNvSpPr/>
          <p:nvPr/>
        </p:nvSpPr>
        <p:spPr>
          <a:xfrm>
            <a:off x="1060704" y="1719072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Scattered Tooling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86384" y="2194560"/>
            <a:ext cx="4928616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Splinters club operations across spreadsheets, WhatsApp threads and paper forms, with no shared system.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45352" y="1591056"/>
            <a:ext cx="5349240" cy="976122"/>
          </a:xfrm>
          <a:prstGeom prst="roundRect">
            <a:avLst>
              <a:gd name="adj" fmla="val 9368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64808" y="182880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13" name="Text 11"/>
          <p:cNvSpPr/>
          <p:nvPr/>
        </p:nvSpPr>
        <p:spPr>
          <a:xfrm>
            <a:off x="6739128" y="1719072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Match Ops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64808" y="2194560"/>
            <a:ext cx="4928616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Forces staff to log line-ups, events and scores by hand, inviting delays and human error.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2804922"/>
            <a:ext cx="5349240" cy="976122"/>
          </a:xfrm>
          <a:prstGeom prst="roundRect">
            <a:avLst>
              <a:gd name="adj" fmla="val 9368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86384" y="304266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17" name="Text 15"/>
          <p:cNvSpPr/>
          <p:nvPr/>
        </p:nvSpPr>
        <p:spPr>
          <a:xfrm>
            <a:off x="1060704" y="2932938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Blind Injury Tracking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86384" y="3408426"/>
            <a:ext cx="4928616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 injuries in isolation, with no link to player availability or selection decisions.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5352" y="2804922"/>
            <a:ext cx="5349240" cy="976122"/>
          </a:xfrm>
          <a:prstGeom prst="roundRect">
            <a:avLst>
              <a:gd name="adj" fmla="val 9368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304266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21" name="Text 19"/>
          <p:cNvSpPr/>
          <p:nvPr/>
        </p:nvSpPr>
        <p:spPr>
          <a:xfrm>
            <a:off x="6739128" y="2932938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Single Truth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64808" y="3408426"/>
            <a:ext cx="4928616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Leaves standings, squads and fixtures duplicated and contradictory across teams and sports.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4018788"/>
            <a:ext cx="5349240" cy="976122"/>
          </a:xfrm>
          <a:prstGeom prst="roundRect">
            <a:avLst>
              <a:gd name="adj" fmla="val 9368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86384" y="425653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25" name="Text 23"/>
          <p:cNvSpPr/>
          <p:nvPr/>
        </p:nvSpPr>
        <p:spPr>
          <a:xfrm>
            <a:off x="1060704" y="4146804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Role-Blind Access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86384" y="4622292"/>
            <a:ext cx="4928616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Exposes sensitive data through shared logins, with no per-role permissions or audit trail.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45352" y="4018788"/>
            <a:ext cx="5349240" cy="976122"/>
          </a:xfrm>
          <a:prstGeom prst="roundRect">
            <a:avLst>
              <a:gd name="adj" fmla="val 9368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64808" y="425653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29" name="Text 27"/>
          <p:cNvSpPr/>
          <p:nvPr/>
        </p:nvSpPr>
        <p:spPr>
          <a:xfrm>
            <a:off x="6739128" y="4146804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Analytics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464808" y="4622292"/>
            <a:ext cx="4928616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Offers no performance insights or match-outcome predictions to guide tactical choices.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5232654"/>
            <a:ext cx="5349240" cy="976122"/>
          </a:xfrm>
          <a:prstGeom prst="roundRect">
            <a:avLst>
              <a:gd name="adj" fmla="val 9368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86384" y="547039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33" name="Text 31"/>
          <p:cNvSpPr/>
          <p:nvPr/>
        </p:nvSpPr>
        <p:spPr>
          <a:xfrm>
            <a:off x="1060704" y="5360670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Unplanned Training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86384" y="5836158"/>
            <a:ext cx="4928616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Schedules sessions ad hoc, with no attendance, drill rating or training-load tracking.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45352" y="5232654"/>
            <a:ext cx="5349240" cy="976122"/>
          </a:xfrm>
          <a:prstGeom prst="roundRect">
            <a:avLst>
              <a:gd name="adj" fmla="val 9368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64808" y="547039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37" name="Text 35"/>
          <p:cNvSpPr/>
          <p:nvPr/>
        </p:nvSpPr>
        <p:spPr>
          <a:xfrm>
            <a:off x="6739128" y="5360670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 Deal Flow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464808" y="5836158"/>
            <a:ext cx="4928616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Drags scouting reports and sponsor negotiations through disconnected emails and back-and-forth.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524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 and Purpose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Sportify is, how it works, and who it helps</a:t>
            </a:r>
            <a:endParaRPr lang="en-US" sz="1300" dirty="0"/>
          </a:p>
        </p:txBody>
      </p:sp>
      <p:sp>
        <p:nvSpPr>
          <p:cNvPr id="6" name="Text 4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3511296" cy="4114800"/>
          </a:xfrm>
          <a:prstGeom prst="roundRect">
            <a:avLst>
              <a:gd name="adj" fmla="val 3125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56816" y="21488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F2840"/>
          </a:solidFill>
          <a:ln w="15875">
            <a:solidFill>
              <a:srgbClr val="27B6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76272" y="2368296"/>
            <a:ext cx="292608" cy="292608"/>
          </a:xfrm>
          <a:prstGeom prst="roundRect">
            <a:avLst>
              <a:gd name="adj" fmla="val 9375"/>
            </a:avLst>
          </a:prstGeom>
          <a:solidFill>
            <a:srgbClr val="27B6D6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310896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59536" y="37033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cloud-native platform that unifies every operation of a multi-sport club into one secure, role-aware system, replacing scattered spreadsheets, paper files and chat threads.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62272" y="1691640"/>
            <a:ext cx="3511296" cy="4114800"/>
          </a:xfrm>
          <a:prstGeom prst="roundRect">
            <a:avLst>
              <a:gd name="adj" fmla="val 3125"/>
            </a:avLst>
          </a:prstGeom>
          <a:solidFill>
            <a:srgbClr val="1B3149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52160" y="21488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F2840"/>
          </a:solidFill>
          <a:ln w="15875">
            <a:solidFill>
              <a:srgbClr val="27B6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71616" y="2368296"/>
            <a:ext cx="292608" cy="292608"/>
          </a:xfrm>
          <a:prstGeom prst="roundRect">
            <a:avLst>
              <a:gd name="adj" fmla="val 9375"/>
            </a:avLst>
          </a:prstGeom>
          <a:solidFill>
            <a:srgbClr val="27B6D6"/>
          </a:solidFill>
          <a:ln/>
        </p:spPr>
      </p:sp>
      <p:sp>
        <p:nvSpPr>
          <p:cNvPr id="15" name="Text 13"/>
          <p:cNvSpPr/>
          <p:nvPr/>
        </p:nvSpPr>
        <p:spPr>
          <a:xfrm>
            <a:off x="4462272" y="310896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0" y="37033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Next.js dashboard talks to one JWT-secured API gateway, which routes to six Spring microservices and a Python ML and AI layer, all kept in sync by an event backbone.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357616" y="1691640"/>
            <a:ext cx="3511296" cy="4114800"/>
          </a:xfrm>
          <a:prstGeom prst="roundRect">
            <a:avLst>
              <a:gd name="adj" fmla="val 3125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747504" y="21488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F2840"/>
          </a:solidFill>
          <a:ln w="15875">
            <a:solidFill>
              <a:srgbClr val="27B6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2368296"/>
            <a:ext cx="292608" cy="292608"/>
          </a:xfrm>
          <a:prstGeom prst="roundRect">
            <a:avLst>
              <a:gd name="adj" fmla="val 9375"/>
            </a:avLst>
          </a:prstGeom>
          <a:solidFill>
            <a:srgbClr val="27B6D6"/>
          </a:solidFill>
          <a:ln/>
        </p:spPr>
      </p:sp>
      <p:sp>
        <p:nvSpPr>
          <p:cNvPr id="20" name="Text 18"/>
          <p:cNvSpPr/>
          <p:nvPr/>
        </p:nvSpPr>
        <p:spPr>
          <a:xfrm>
            <a:off x="8357616" y="310896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helps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50224" y="37033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role gets exactly the screen it needs, matches run live, injuries gate selection automatically, real competition data stays the single source of truth, and analytics drive decisions.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524">
              <a:alpha val="42000"/>
            </a:srgbClr>
          </a:solidFill>
          <a:ln/>
        </p:spPr>
      </p:sp>
      <p:sp>
        <p:nvSpPr>
          <p:cNvPr id="3" name="Text 1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40680" y="1828800"/>
            <a:ext cx="1280160" cy="1280160"/>
          </a:xfrm>
          <a:prstGeom prst="ellipse">
            <a:avLst/>
          </a:prstGeom>
          <a:solidFill>
            <a:srgbClr val="0A1524"/>
          </a:solidFill>
          <a:ln w="31750">
            <a:solidFill>
              <a:srgbClr val="27B6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40680" y="1828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338328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LIVE DEMO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3794760"/>
            <a:ext cx="1216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in 60 Seconds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011680" y="46177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fast teaser before we dive in: login, the role dashboard, a live match, the medical room and team chat.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794760" y="5440680"/>
            <a:ext cx="4572000" cy="640080"/>
          </a:xfrm>
          <a:prstGeom prst="roundRect">
            <a:avLst>
              <a:gd name="adj" fmla="val 14286"/>
            </a:avLst>
          </a:prstGeom>
          <a:solidFill>
            <a:srgbClr val="0F2840"/>
          </a:solidFill>
          <a:ln w="12700">
            <a:solidFill>
              <a:srgbClr val="27B6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5440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quick overview video here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524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Sportify answers each problem: old playbook to cloud-native one</a:t>
            </a:r>
            <a:endParaRPr lang="en-US" sz="1300" dirty="0"/>
          </a:p>
        </p:txBody>
      </p:sp>
      <p:sp>
        <p:nvSpPr>
          <p:cNvPr id="6" name="Text 4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627632"/>
            <a:ext cx="3456432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186537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9" name="Text 7"/>
          <p:cNvSpPr/>
          <p:nvPr/>
        </p:nvSpPr>
        <p:spPr>
          <a:xfrm>
            <a:off x="1060704" y="175564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Spreadsheets → Cloud Platform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86384" y="2231136"/>
            <a:ext cx="3035808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Replaces scattered, siloed spreadsheets with one unified cloud-native platform that centralizes every workflow.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52544" y="1627632"/>
            <a:ext cx="3456432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86537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75564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Files → Digital Journey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0" y="2231136"/>
            <a:ext cx="3035808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Turns loose paper medical records into a staged digital injury lifecycle tied to each player's profile.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627632"/>
            <a:ext cx="3456432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57616" y="186537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17" name="Text 15"/>
          <p:cNvSpPr/>
          <p:nvPr/>
        </p:nvSpPr>
        <p:spPr>
          <a:xfrm>
            <a:off x="8631936" y="175564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Live Ops → Match Engine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57616" y="2231136"/>
            <a:ext cx="3035808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Upgrades silent match days into a broadcast-style live engine streaming events, line-ups and a running clock.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037076"/>
            <a:ext cx="3456432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6384" y="427482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21" name="Text 19"/>
          <p:cNvSpPr/>
          <p:nvPr/>
        </p:nvSpPr>
        <p:spPr>
          <a:xfrm>
            <a:off x="1060704" y="4165092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Standings → Real Data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86384" y="4640580"/>
            <a:ext cx="3035808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Swaps hand-typed tables for live standings and fixtures ingested automatically from the football-data.org API.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52544" y="4037076"/>
            <a:ext cx="3456432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427482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4165092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Access → RBAC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0" y="4640580"/>
            <a:ext cx="3035808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Ends 'everyone sees everything' by enforcing Keycloak role-based access across players, staff and managers.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38160" y="4037076"/>
            <a:ext cx="3456432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357616" y="427482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29" name="Text 27"/>
          <p:cNvSpPr/>
          <p:nvPr/>
        </p:nvSpPr>
        <p:spPr>
          <a:xfrm>
            <a:off x="8631936" y="4165092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Gut Feel → Analytics &amp; ML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357616" y="4640580"/>
            <a:ext cx="3035808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Replaces instinct with data dashboards and a Python ML service that predicts outcomes and player insights.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524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Goals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Sportify set out to achieve</a:t>
            </a:r>
            <a:endParaRPr lang="en-US" sz="1300" dirty="0"/>
          </a:p>
        </p:txBody>
      </p:sp>
      <p:sp>
        <p:nvSpPr>
          <p:cNvPr id="6" name="Text 4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84708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66420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Unify Club Operations: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Consolidates matches, medical, training, scouting, messaging and finance into one role-aware platform.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2615184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432304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Matches Live: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Streams each fixture in real time with an accurate, minute-by-minute event timeline and live clock.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33832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20040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 Injury Recovery: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Guides every injury from diagnosis through rehab to a final passing fitness test before return-to-play.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4151376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968496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Anchor a Single Source of Truth: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Makes the Spring Boot back-end the authoritative store for real fixtures, results and league standings.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68680" y="491947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4736592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 Secure Access: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Applies Keycloak-backed role-based access control across every service, route and action.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68680" y="568756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550468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Surface Predictive Insights: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Delivers performance analytics and ML-driven predictions to inform line-up, scouting and tactics.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cloud-native Spring Cloud microservice mesh behind one JWT-secured gateway</a:t>
            </a:r>
            <a:endParaRPr lang="en-US" sz="1300" dirty="0"/>
          </a:p>
        </p:txBody>
      </p:sp>
      <p:sp>
        <p:nvSpPr>
          <p:cNvPr id="5" name="Text 3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2551176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186537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" y="175564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Front-End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86384" y="2231136"/>
            <a:ext cx="2130552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Serves the React dashboard and talks to the platform through a single API Gateway origin.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92424" y="1627632"/>
            <a:ext cx="2551176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11880" y="186537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12" name="Text 10"/>
          <p:cNvSpPr/>
          <p:nvPr/>
        </p:nvSpPr>
        <p:spPr>
          <a:xfrm>
            <a:off x="3886200" y="175564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Cloud Gateway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11880" y="2231136"/>
            <a:ext cx="2130552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Verifies Keycloak JWTs and load-balances every request to the right service on port 8080.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627632"/>
            <a:ext cx="2551176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37376" y="186537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16" name="Text 14"/>
          <p:cNvSpPr/>
          <p:nvPr/>
        </p:nvSpPr>
        <p:spPr>
          <a:xfrm>
            <a:off x="6711696" y="175564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Domain Services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37376" y="2231136"/>
            <a:ext cx="2130552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Splits into user (8081), player (8084), training-match (8087), medical (8086), reports (8083) and notification (8085), each with a private database.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43416" y="1627632"/>
            <a:ext cx="2551176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262872" y="186537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20" name="Text 18"/>
          <p:cNvSpPr/>
          <p:nvPr/>
        </p:nvSpPr>
        <p:spPr>
          <a:xfrm>
            <a:off x="9537192" y="175564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Eureka + Config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262872" y="2231136"/>
            <a:ext cx="2130552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Registers services in Eureka (8761) and feeds them centralized settings from the Config Server (8082).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4037076"/>
            <a:ext cx="2551176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6384" y="427482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24" name="Text 22"/>
          <p:cNvSpPr/>
          <p:nvPr/>
        </p:nvSpPr>
        <p:spPr>
          <a:xfrm>
            <a:off x="1060704" y="4165092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Identity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86384" y="4640580"/>
            <a:ext cx="2130552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Issues and signs OAuth2 tokens for the mscms realm that every service validates as a resource server.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92424" y="4037076"/>
            <a:ext cx="2551176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11880" y="427482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28" name="Text 26"/>
          <p:cNvSpPr/>
          <p:nvPr/>
        </p:nvSpPr>
        <p:spPr>
          <a:xfrm>
            <a:off x="3886200" y="4165092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Kafka Event Backbone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611880" y="4640580"/>
            <a:ext cx="2130552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Streams domain events asynchronously via an outbox publisher so notifications and analytics never block.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4037076"/>
            <a:ext cx="2551176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37376" y="427482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32" name="Text 30"/>
          <p:cNvSpPr/>
          <p:nvPr/>
        </p:nvSpPr>
        <p:spPr>
          <a:xfrm>
            <a:off x="6711696" y="4165092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ML Engine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37376" y="4640580"/>
            <a:ext cx="2130552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Exposes Python match-prediction and player-rating models that the gateway routes to under /ml.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043416" y="4037076"/>
            <a:ext cx="2551176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262872" y="427482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36" name="Text 34"/>
          <p:cNvSpPr/>
          <p:nvPr/>
        </p:nvSpPr>
        <p:spPr>
          <a:xfrm>
            <a:off x="9537192" y="4165092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football-data.org Feed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262872" y="4640580"/>
            <a:ext cx="2130552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Pulls real La Liga and Champions League fixtures and standings on a scheduled sync into the match service.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at a Glance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layers · one gateway · Keycloak as a side-guard · Python AI as separate services</a:t>
            </a:r>
            <a:endParaRPr lang="en-US" sz="1300" dirty="0"/>
          </a:p>
        </p:txBody>
      </p:sp>
      <p:sp>
        <p:nvSpPr>
          <p:cNvPr id="5" name="Text 3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09160" y="1481328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0F2840"/>
          </a:solidFill>
          <a:ln w="15875">
            <a:solidFill>
              <a:srgbClr val="27B6D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64024" y="1545336"/>
            <a:ext cx="263347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Dashboard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64024" y="1764792"/>
            <a:ext cx="2633472" cy="260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· browser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080760" y="2048256"/>
            <a:ext cx="0" cy="256032"/>
          </a:xfrm>
          <a:prstGeom prst="line">
            <a:avLst/>
          </a:prstGeom>
          <a:noFill/>
          <a:ln w="22225">
            <a:solidFill>
              <a:srgbClr val="27B6D6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172200" y="20756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HTTPS origin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" y="2304288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1A2740"/>
          </a:solidFill>
          <a:ln w="15875">
            <a:solidFill>
              <a:srgbClr val="E6B80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4944" y="2368296"/>
            <a:ext cx="263347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94944" y="2633472"/>
            <a:ext cx="2633472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· OAuth2 / JWT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0" y="2304288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143049"/>
          </a:solidFill>
          <a:ln w="15875">
            <a:solidFill>
              <a:srgbClr val="27B6D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26864" y="2368296"/>
            <a:ext cx="290779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Cloud Gateway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26864" y="2633472"/>
            <a:ext cx="2907792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:8080 · routes + JWT check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778240" y="2139696"/>
            <a:ext cx="2743200" cy="969264"/>
          </a:xfrm>
          <a:prstGeom prst="roundRect">
            <a:avLst>
              <a:gd name="adj" fmla="val 7547"/>
            </a:avLst>
          </a:prstGeom>
          <a:solidFill>
            <a:srgbClr val="172A1F"/>
          </a:solidFill>
          <a:ln w="15875">
            <a:solidFill>
              <a:srgbClr val="3DBB8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778240" y="21945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AI Services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69680" y="250545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ML — predictions &amp; ratings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Barca Assistant — Python + LLM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3383280" y="2633472"/>
            <a:ext cx="1188720" cy="0"/>
          </a:xfrm>
          <a:prstGeom prst="line">
            <a:avLst/>
          </a:prstGeom>
          <a:noFill/>
          <a:ln w="22225">
            <a:solidFill>
              <a:srgbClr val="E6B800"/>
            </a:solidFill>
            <a:prstDash val="solid"/>
            <a:headEnd type="triangl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246120" y="23591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6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JWT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589520" y="2633472"/>
            <a:ext cx="1188720" cy="0"/>
          </a:xfrm>
          <a:prstGeom prst="line">
            <a:avLst/>
          </a:prstGeom>
          <a:noFill/>
          <a:ln w="22225">
            <a:solidFill>
              <a:srgbClr val="3DBB8E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498080" y="23591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3DB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/ml · /assistant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80760" y="2962656"/>
            <a:ext cx="0" cy="347472"/>
          </a:xfrm>
          <a:prstGeom prst="line">
            <a:avLst/>
          </a:prstGeom>
          <a:noFill/>
          <a:ln w="22225">
            <a:solidFill>
              <a:srgbClr val="27B6D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783080" y="3310128"/>
            <a:ext cx="8595360" cy="1517904"/>
          </a:xfrm>
          <a:prstGeom prst="roundRect">
            <a:avLst>
              <a:gd name="adj" fmla="val 4819"/>
            </a:avLst>
          </a:prstGeom>
          <a:solidFill>
            <a:srgbClr val="0E2236"/>
          </a:solidFill>
          <a:ln w="12700">
            <a:solidFill>
              <a:srgbClr val="2B40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83080" y="334670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domain microservices · a private PostgreSQL database per service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965960" y="3657600"/>
            <a:ext cx="2679192" cy="493776"/>
          </a:xfrm>
          <a:prstGeom prst="roundRect">
            <a:avLst>
              <a:gd name="adj" fmla="val 14815"/>
            </a:avLst>
          </a:prstGeom>
          <a:solidFill>
            <a:srgbClr val="16273C"/>
          </a:solidFill>
          <a:ln w="15875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020824" y="3721608"/>
            <a:ext cx="2569464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020824" y="3904488"/>
            <a:ext cx="2569464" cy="22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:8081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0016" y="3657600"/>
            <a:ext cx="2679192" cy="493776"/>
          </a:xfrm>
          <a:prstGeom prst="roundRect">
            <a:avLst>
              <a:gd name="adj" fmla="val 14815"/>
            </a:avLst>
          </a:prstGeom>
          <a:solidFill>
            <a:srgbClr val="16273C"/>
          </a:solidFill>
          <a:ln w="15875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0" y="3721608"/>
            <a:ext cx="2569464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54880" y="3904488"/>
            <a:ext cx="2569464" cy="22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:8084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434072" y="3657600"/>
            <a:ext cx="2679192" cy="493776"/>
          </a:xfrm>
          <a:prstGeom prst="roundRect">
            <a:avLst>
              <a:gd name="adj" fmla="val 14815"/>
            </a:avLst>
          </a:prstGeom>
          <a:solidFill>
            <a:srgbClr val="16273C"/>
          </a:solidFill>
          <a:ln w="15875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488936" y="3721608"/>
            <a:ext cx="2569464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Training-Match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488936" y="3904488"/>
            <a:ext cx="2569464" cy="22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:8087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965960" y="4261104"/>
            <a:ext cx="2679192" cy="493776"/>
          </a:xfrm>
          <a:prstGeom prst="roundRect">
            <a:avLst>
              <a:gd name="adj" fmla="val 14815"/>
            </a:avLst>
          </a:prstGeom>
          <a:solidFill>
            <a:srgbClr val="16273C"/>
          </a:solidFill>
          <a:ln w="15875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020824" y="4325112"/>
            <a:ext cx="2569464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020824" y="4507992"/>
            <a:ext cx="2569464" cy="22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:8086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0016" y="4261104"/>
            <a:ext cx="2679192" cy="493776"/>
          </a:xfrm>
          <a:prstGeom prst="roundRect">
            <a:avLst>
              <a:gd name="adj" fmla="val 14815"/>
            </a:avLst>
          </a:prstGeom>
          <a:solidFill>
            <a:srgbClr val="16273C"/>
          </a:solidFill>
          <a:ln w="15875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754880" y="4325112"/>
            <a:ext cx="2569464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754880" y="4507992"/>
            <a:ext cx="2569464" cy="22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:8083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34072" y="4261104"/>
            <a:ext cx="2679192" cy="493776"/>
          </a:xfrm>
          <a:prstGeom prst="roundRect">
            <a:avLst>
              <a:gd name="adj" fmla="val 14815"/>
            </a:avLst>
          </a:prstGeom>
          <a:solidFill>
            <a:srgbClr val="16273C"/>
          </a:solidFill>
          <a:ln w="15875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488936" y="4325112"/>
            <a:ext cx="2569464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488936" y="4507992"/>
            <a:ext cx="2569464" cy="22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:8085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931920" y="4828032"/>
            <a:ext cx="0" cy="292608"/>
          </a:xfrm>
          <a:prstGeom prst="line">
            <a:avLst/>
          </a:prstGeom>
          <a:noFill/>
          <a:ln w="22225">
            <a:solidFill>
              <a:srgbClr val="27B6D6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229600" y="4828032"/>
            <a:ext cx="0" cy="292608"/>
          </a:xfrm>
          <a:prstGeom prst="line">
            <a:avLst/>
          </a:prstGeom>
          <a:noFill/>
          <a:ln w="22225">
            <a:solidFill>
              <a:srgbClr val="27B6D6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920240" y="5120640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241A2E"/>
          </a:solidFill>
          <a:ln w="15875">
            <a:solidFill>
              <a:srgbClr val="7A5CC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1975104" y="5184648"/>
            <a:ext cx="3913632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Kafka — Event Backbone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1975104" y="5422392"/>
            <a:ext cx="3913632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outbox publisher · async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309360" y="5120640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1B3149"/>
          </a:solidFill>
          <a:ln w="15875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364224" y="5184648"/>
            <a:ext cx="3913632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Eureka + Config Server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6364224" y="5422392"/>
            <a:ext cx="3913632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 + central config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66928" y="3703320"/>
            <a:ext cx="1051560" cy="786384"/>
          </a:xfrm>
          <a:prstGeom prst="roundRect">
            <a:avLst>
              <a:gd name="adj" fmla="val 9302"/>
            </a:avLst>
          </a:prstGeom>
          <a:solidFill>
            <a:srgbClr val="1E2A18"/>
          </a:solidFill>
          <a:ln w="15875">
            <a:solidFill>
              <a:srgbClr val="3DBB8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21792" y="3767328"/>
            <a:ext cx="941832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football-data.org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621792" y="4096512"/>
            <a:ext cx="941832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fixtures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618488" y="4096512"/>
            <a:ext cx="164592" cy="0"/>
          </a:xfrm>
          <a:prstGeom prst="line">
            <a:avLst/>
          </a:prstGeom>
          <a:noFill/>
          <a:ln w="22225">
            <a:solidFill>
              <a:srgbClr val="3DBB8E"/>
            </a:solidFill>
            <a:prstDash val="solid"/>
            <a:headEnd type="none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Enterprise-Grade Tech Stack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Proven, production-grade technology at every layer</a:t>
            </a:r>
            <a:endParaRPr lang="en-US" sz="1300" dirty="0"/>
          </a:p>
        </p:txBody>
      </p:sp>
      <p:sp>
        <p:nvSpPr>
          <p:cNvPr id="5" name="Text 3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3456432" cy="3840480"/>
          </a:xfrm>
          <a:prstGeom prst="roundRect">
            <a:avLst>
              <a:gd name="adj" fmla="val 3175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83664" y="2075688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0F2840"/>
          </a:solidFill>
          <a:ln w="15875">
            <a:solidFill>
              <a:srgbClr val="27B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30552" y="232257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27B6D6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10896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Back-End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3703320"/>
            <a:ext cx="2907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21 / Spring Boot 3.5</a:t>
            </a:r>
            <a:endParaRPr lang="en-US" sz="12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Cloud Gateway + Eureka</a:t>
            </a:r>
            <a:endParaRPr lang="en-US" sz="12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14 (DB per service)</a:t>
            </a:r>
            <a:endParaRPr lang="en-US" sz="12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Apache Kafka (eventing)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80560" y="1691640"/>
            <a:ext cx="3456432" cy="3840480"/>
          </a:xfrm>
          <a:prstGeom prst="roundRect">
            <a:avLst>
              <a:gd name="adj" fmla="val 3175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97296" y="2075688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0F2840"/>
          </a:solidFill>
          <a:ln w="15875">
            <a:solidFill>
              <a:srgbClr val="27B6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44184" y="232257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27B6D6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310896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Front-End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3703320"/>
            <a:ext cx="2907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16 (App Router)</a:t>
            </a:r>
            <a:endParaRPr lang="en-US" sz="12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 and Tailwind v4</a:t>
            </a:r>
            <a:endParaRPr lang="en-US" sz="12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JWT-secured API client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94192" y="1691640"/>
            <a:ext cx="3456432" cy="3840480"/>
          </a:xfrm>
          <a:prstGeom prst="roundRect">
            <a:avLst>
              <a:gd name="adj" fmla="val 3175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710928" y="2075688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0F2840"/>
          </a:solidFill>
          <a:ln w="15875">
            <a:solidFill>
              <a:srgbClr val="27B6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57816" y="232257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27B6D6"/>
          </a:solidFill>
          <a:ln/>
        </p:spPr>
      </p:sp>
      <p:sp>
        <p:nvSpPr>
          <p:cNvPr id="19" name="Text 17"/>
          <p:cNvSpPr/>
          <p:nvPr/>
        </p:nvSpPr>
        <p:spPr>
          <a:xfrm>
            <a:off x="8394192" y="310896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and AI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68512" y="3703320"/>
            <a:ext cx="2907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26 (Identity / JWT)</a:t>
            </a:r>
            <a:endParaRPr lang="en-US" sz="12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(containerized stack)</a:t>
            </a:r>
            <a:endParaRPr lang="en-US" sz="12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FastAPI (ML models)</a:t>
            </a:r>
            <a:endParaRPr lang="en-US" sz="12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+ LLM (Club Assistant)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524">
              <a:alpha val="42000"/>
            </a:srgbClr>
          </a:solidFill>
          <a:ln/>
        </p:spPr>
      </p:sp>
      <p:sp>
        <p:nvSpPr>
          <p:cNvPr id="3" name="Text 1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57800" y="2697480"/>
            <a:ext cx="1645920" cy="54864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92608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Roles and Access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0" y="384048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Eleven role surfaces: each one's value, then its own screen.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524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Administrator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value and core responsibilities</a:t>
            </a:r>
            <a:endParaRPr lang="en-US" sz="1300" dirty="0"/>
          </a:p>
        </p:txBody>
      </p:sp>
      <p:sp>
        <p:nvSpPr>
          <p:cNvPr id="6" name="Text 4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41248" y="1783080"/>
            <a:ext cx="10479024" cy="1234440"/>
          </a:xfrm>
          <a:prstGeom prst="roundRect">
            <a:avLst>
              <a:gd name="adj" fmla="val 7407"/>
            </a:avLst>
          </a:prstGeom>
          <a:solidFill>
            <a:srgbClr val="1B3149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78992" y="208483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901952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role drives —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manages all accounts and roles and oversees the platform with unrestricted access.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78992" y="345643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31012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access: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dashboard route, including admin-only User Management.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77724" cy="548640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Administrator — what they see</a:t>
            </a:r>
            <a:endParaRPr lang="en-US" sz="2300" dirty="0"/>
          </a:p>
        </p:txBody>
      </p:sp>
      <p:sp>
        <p:nvSpPr>
          <p:cNvPr id="4" name="Text 2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338560" cy="5212080"/>
          </a:xfrm>
          <a:prstGeom prst="roundRect">
            <a:avLst>
              <a:gd name="adj" fmla="val 1053"/>
            </a:avLst>
          </a:prstGeom>
          <a:solidFill>
            <a:srgbClr val="0E1E33"/>
          </a:solidFill>
          <a:ln w="17780">
            <a:solidFill>
              <a:srgbClr val="2B405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0" y="338328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the Administrator dashboard screenshot here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0" y="38587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access: every section, plus admin-only User Management.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524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 Manager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value and core responsibilities</a:t>
            </a:r>
            <a:endParaRPr lang="en-US" sz="1300" dirty="0"/>
          </a:p>
        </p:txBody>
      </p:sp>
      <p:sp>
        <p:nvSpPr>
          <p:cNvPr id="6" name="Text 4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41248" y="1783080"/>
            <a:ext cx="10479024" cy="1234440"/>
          </a:xfrm>
          <a:prstGeom prst="roundRect">
            <a:avLst>
              <a:gd name="adj" fmla="val 7407"/>
            </a:avLst>
          </a:prstGeom>
          <a:solidFill>
            <a:srgbClr val="1B3149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78992" y="208483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901952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role drives —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a sport end-to-end, from squad and staff to transfers and sponsor deals.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78992" y="345643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31012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access: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Club Hub, Teams, Staff, Players, Matches, Scouting, Contracts and Sponsors.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77724" cy="548640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 Manager — what they see</a:t>
            </a:r>
            <a:endParaRPr lang="en-US" sz="2300" dirty="0"/>
          </a:p>
        </p:txBody>
      </p:sp>
      <p:sp>
        <p:nvSpPr>
          <p:cNvPr id="4" name="Text 2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338560" cy="5212080"/>
          </a:xfrm>
          <a:prstGeom prst="roundRect">
            <a:avLst>
              <a:gd name="adj" fmla="val 1053"/>
            </a:avLst>
          </a:prstGeom>
          <a:solidFill>
            <a:srgbClr val="0E1E33"/>
          </a:solidFill>
          <a:ln w="17780">
            <a:solidFill>
              <a:srgbClr val="2B405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0" y="338328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the Sport Manager dashboard screenshot here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0" y="38587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Squad, staff, matches, scouting, contracts and sponsor deals.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524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Manager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value and core responsibilities</a:t>
            </a:r>
            <a:endParaRPr lang="en-US" sz="1300" dirty="0"/>
          </a:p>
        </p:txBody>
      </p:sp>
      <p:sp>
        <p:nvSpPr>
          <p:cNvPr id="6" name="Text 4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41248" y="1783080"/>
            <a:ext cx="10479024" cy="1234440"/>
          </a:xfrm>
          <a:prstGeom prst="roundRect">
            <a:avLst>
              <a:gd name="adj" fmla="val 7407"/>
            </a:avLst>
          </a:prstGeom>
          <a:solidFill>
            <a:srgbClr val="1B3149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78992" y="208483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901952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role drives —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coordinates a team's roster, training schedule, fixtures and contract logistics.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78992" y="345643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31012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access: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Club Hub, Teams, Staff, Players, Training, Matches, Contracts, Reports.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77724" cy="548640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Manager — what they see</a:t>
            </a:r>
            <a:endParaRPr lang="en-US" sz="2300" dirty="0"/>
          </a:p>
        </p:txBody>
      </p:sp>
      <p:sp>
        <p:nvSpPr>
          <p:cNvPr id="4" name="Text 2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338560" cy="5212080"/>
          </a:xfrm>
          <a:prstGeom prst="roundRect">
            <a:avLst>
              <a:gd name="adj" fmla="val 1053"/>
            </a:avLst>
          </a:prstGeom>
          <a:solidFill>
            <a:srgbClr val="0E1E33"/>
          </a:solidFill>
          <a:ln w="17780">
            <a:solidFill>
              <a:srgbClr val="2B405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0" y="338328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the Team Manager dashboard screenshot here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0" y="38587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Roster, training schedule, fixtures and contracts.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524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 Coach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value and core responsibilities</a:t>
            </a:r>
            <a:endParaRPr lang="en-US" sz="1300" dirty="0"/>
          </a:p>
        </p:txBody>
      </p:sp>
      <p:sp>
        <p:nvSpPr>
          <p:cNvPr id="6" name="Text 4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41248" y="1783080"/>
            <a:ext cx="10479024" cy="1234440"/>
          </a:xfrm>
          <a:prstGeom prst="roundRect">
            <a:avLst>
              <a:gd name="adj" fmla="val 7407"/>
            </a:avLst>
          </a:prstGeom>
          <a:solidFill>
            <a:srgbClr val="1B3149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78992" y="208483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901952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role drives —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leads coaching, sets up training and line-ups, and reviews performance and fitness.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78992" y="345643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31012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access: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Players, Teams, Training, Matches, Medical, Analytics, Reports, Alerts.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77724" cy="548640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 Coach — what they see</a:t>
            </a:r>
            <a:endParaRPr lang="en-US" sz="2300" dirty="0"/>
          </a:p>
        </p:txBody>
      </p:sp>
      <p:sp>
        <p:nvSpPr>
          <p:cNvPr id="4" name="Text 2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338560" cy="5212080"/>
          </a:xfrm>
          <a:prstGeom prst="roundRect">
            <a:avLst>
              <a:gd name="adj" fmla="val 1053"/>
            </a:avLst>
          </a:prstGeom>
          <a:solidFill>
            <a:srgbClr val="0E1E33"/>
          </a:solidFill>
          <a:ln w="17780">
            <a:solidFill>
              <a:srgbClr val="2B405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0" y="338328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the Head Coach dashboard screenshot here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0" y="38587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Training, line-ups, matches, medical and analytics.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524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Doctor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value and core responsibilities</a:t>
            </a:r>
            <a:endParaRPr lang="en-US" sz="1300" dirty="0"/>
          </a:p>
        </p:txBody>
      </p:sp>
      <p:sp>
        <p:nvSpPr>
          <p:cNvPr id="6" name="Text 4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41248" y="1783080"/>
            <a:ext cx="10479024" cy="1234440"/>
          </a:xfrm>
          <a:prstGeom prst="roundRect">
            <a:avLst>
              <a:gd name="adj" fmla="val 7407"/>
            </a:avLst>
          </a:prstGeom>
          <a:solidFill>
            <a:srgbClr val="1B3149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78992" y="208483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901952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role drives —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diagnoses each injury and prescribes its treatment, opening the player's medical case and driving the early stages of the injury cycle.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78992" y="345643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31012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access: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(Injuries, Diagnoses, Treatments), Players, Training and Alerts.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77724" cy="548640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Doctor — what they see</a:t>
            </a:r>
            <a:endParaRPr lang="en-US" sz="2300" dirty="0"/>
          </a:p>
        </p:txBody>
      </p:sp>
      <p:sp>
        <p:nvSpPr>
          <p:cNvPr id="4" name="Text 2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338560" cy="5212080"/>
          </a:xfrm>
          <a:prstGeom prst="roundRect">
            <a:avLst>
              <a:gd name="adj" fmla="val 1053"/>
            </a:avLst>
          </a:prstGeom>
          <a:solidFill>
            <a:srgbClr val="0E1E33"/>
          </a:solidFill>
          <a:ln w="17780">
            <a:solidFill>
              <a:srgbClr val="2B405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0" y="338328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the Doctor dashboard screenshot here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0" y="38587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Injuries, diagnoses and treatments for a player's medical case.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524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Physiotherapist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value and core responsibilities</a:t>
            </a:r>
            <a:endParaRPr lang="en-US" sz="1300" dirty="0"/>
          </a:p>
        </p:txBody>
      </p:sp>
      <p:sp>
        <p:nvSpPr>
          <p:cNvPr id="6" name="Text 4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41248" y="1783080"/>
            <a:ext cx="10479024" cy="1234440"/>
          </a:xfrm>
          <a:prstGeom prst="roundRect">
            <a:avLst>
              <a:gd name="adj" fmla="val 7407"/>
            </a:avLst>
          </a:prstGeom>
          <a:solidFill>
            <a:srgbClr val="1B3149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78992" y="208483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901952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role drives —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and manages the rehabilitation plans and tracks each player's recovery progress back toward full fitness.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78992" y="345643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31012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access: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(Rehabilitation, Recovery), Players and Training.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77724" cy="548640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Physiotherapist — what they see</a:t>
            </a:r>
            <a:endParaRPr lang="en-US" sz="2300" dirty="0"/>
          </a:p>
        </p:txBody>
      </p:sp>
      <p:sp>
        <p:nvSpPr>
          <p:cNvPr id="4" name="Text 2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338560" cy="5212080"/>
          </a:xfrm>
          <a:prstGeom prst="roundRect">
            <a:avLst>
              <a:gd name="adj" fmla="val 1053"/>
            </a:avLst>
          </a:prstGeom>
          <a:solidFill>
            <a:srgbClr val="0E1E33"/>
          </a:solidFill>
          <a:ln w="17780">
            <a:solidFill>
              <a:srgbClr val="2B405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0" y="338328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the Physiotherapist dashboard screenshot here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0" y="38587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Rehabilitation plans and recovery tracking.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524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Fitness Coach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value and core responsibilities</a:t>
            </a:r>
            <a:endParaRPr lang="en-US" sz="1300" dirty="0"/>
          </a:p>
        </p:txBody>
      </p:sp>
      <p:sp>
        <p:nvSpPr>
          <p:cNvPr id="6" name="Text 4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41248" y="1783080"/>
            <a:ext cx="10479024" cy="1234440"/>
          </a:xfrm>
          <a:prstGeom prst="roundRect">
            <a:avLst>
              <a:gd name="adj" fmla="val 7407"/>
            </a:avLst>
          </a:prstGeom>
          <a:solidFill>
            <a:srgbClr val="1B3149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78992" y="208483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901952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role drives —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creates, assigns and tracks fitness tests, clearing a recovering player for return-to-play only once a final fitness test is passed.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78992" y="345643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31012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access: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Training, Fitness Tests, Players and Analytics.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77724" cy="548640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Fitness Coach — what they see</a:t>
            </a:r>
            <a:endParaRPr lang="en-US" sz="2300" dirty="0"/>
          </a:p>
        </p:txBody>
      </p:sp>
      <p:sp>
        <p:nvSpPr>
          <p:cNvPr id="4" name="Text 2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338560" cy="5212080"/>
          </a:xfrm>
          <a:prstGeom prst="roundRect">
            <a:avLst>
              <a:gd name="adj" fmla="val 1053"/>
            </a:avLst>
          </a:prstGeom>
          <a:solidFill>
            <a:srgbClr val="0E1E33"/>
          </a:solidFill>
          <a:ln w="17780">
            <a:solidFill>
              <a:srgbClr val="2B405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0" y="338328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the Fitness Coach dashboard screenshot here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0" y="38587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Fitness tests: create, assign, track and clear return-to-play.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524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Analyst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value and core responsibilities</a:t>
            </a:r>
            <a:endParaRPr lang="en-US" sz="1300" dirty="0"/>
          </a:p>
        </p:txBody>
      </p:sp>
      <p:sp>
        <p:nvSpPr>
          <p:cNvPr id="6" name="Text 4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41248" y="1783080"/>
            <a:ext cx="10479024" cy="1234440"/>
          </a:xfrm>
          <a:prstGeom prst="roundRect">
            <a:avLst>
              <a:gd name="adj" fmla="val 7407"/>
            </a:avLst>
          </a:prstGeom>
          <a:solidFill>
            <a:srgbClr val="1B3149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78992" y="208483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901952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role drives —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analyzes match and training data and runs AI predictions and ratings.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78992" y="345643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31012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access: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Analytics, Training Analytics, Reports, Matches, Players and the ML Predictor &amp; Rating tools.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77724" cy="548640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Analyst — what they see</a:t>
            </a:r>
            <a:endParaRPr lang="en-US" sz="2300" dirty="0"/>
          </a:p>
        </p:txBody>
      </p:sp>
      <p:sp>
        <p:nvSpPr>
          <p:cNvPr id="4" name="Text 2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338560" cy="5212080"/>
          </a:xfrm>
          <a:prstGeom prst="roundRect">
            <a:avLst>
              <a:gd name="adj" fmla="val 1053"/>
            </a:avLst>
          </a:prstGeom>
          <a:solidFill>
            <a:srgbClr val="0E1E33"/>
          </a:solidFill>
          <a:ln w="17780">
            <a:solidFill>
              <a:srgbClr val="2B405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0" y="338328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the Performance Analyst dashboard screenshot here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0" y="38587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Analytics, reports and the ML predictor and rating tools.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524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Scout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value and core responsibilities</a:t>
            </a:r>
            <a:endParaRPr lang="en-US" sz="1300" dirty="0"/>
          </a:p>
        </p:txBody>
      </p:sp>
      <p:sp>
        <p:nvSpPr>
          <p:cNvPr id="6" name="Text 4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41248" y="1783080"/>
            <a:ext cx="10479024" cy="1234440"/>
          </a:xfrm>
          <a:prstGeom prst="roundRect">
            <a:avLst>
              <a:gd name="adj" fmla="val 7407"/>
            </a:avLst>
          </a:prstGeom>
          <a:solidFill>
            <a:srgbClr val="1B3149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78992" y="208483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901952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role drives —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tracks and evaluates prospects, logging scouting reports against players and fixtures.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78992" y="345643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31012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access: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Scouting &amp; Scouting Ops, Players, Matches, Competitions, Head-to-Head, Reports.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77724" cy="548640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Scout — what they see</a:t>
            </a:r>
            <a:endParaRPr lang="en-US" sz="2300" dirty="0"/>
          </a:p>
        </p:txBody>
      </p:sp>
      <p:sp>
        <p:nvSpPr>
          <p:cNvPr id="4" name="Text 2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338560" cy="5212080"/>
          </a:xfrm>
          <a:prstGeom prst="roundRect">
            <a:avLst>
              <a:gd name="adj" fmla="val 1053"/>
            </a:avLst>
          </a:prstGeom>
          <a:solidFill>
            <a:srgbClr val="0E1E33"/>
          </a:solidFill>
          <a:ln w="17780">
            <a:solidFill>
              <a:srgbClr val="2B405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0" y="338328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the Scout dashboard screenshot here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0" y="38587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Scouting, prospects, matches and head-to-head.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524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value and core responsibilities</a:t>
            </a:r>
            <a:endParaRPr lang="en-US" sz="1300" dirty="0"/>
          </a:p>
        </p:txBody>
      </p:sp>
      <p:sp>
        <p:nvSpPr>
          <p:cNvPr id="6" name="Text 4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41248" y="1783080"/>
            <a:ext cx="10479024" cy="1234440"/>
          </a:xfrm>
          <a:prstGeom prst="roundRect">
            <a:avLst>
              <a:gd name="adj" fmla="val 7407"/>
            </a:avLst>
          </a:prstGeom>
          <a:solidFill>
            <a:srgbClr val="1B3149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78992" y="208483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901952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role drives —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follows the club and a personal schedule, viewing fixtures, results, assigned training sessions and personal medical and fitness status in a focused, view-only surface.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78992" y="345643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31012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access: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 Club Hub, Players, Matches, Competitions and Head-to-Head, plus the player's own Training and Medical.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77724" cy="548640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— what they see</a:t>
            </a:r>
            <a:endParaRPr lang="en-US" sz="2300" dirty="0"/>
          </a:p>
        </p:txBody>
      </p:sp>
      <p:sp>
        <p:nvSpPr>
          <p:cNvPr id="4" name="Text 2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338560" cy="5212080"/>
          </a:xfrm>
          <a:prstGeom prst="roundRect">
            <a:avLst>
              <a:gd name="adj" fmla="val 1053"/>
            </a:avLst>
          </a:prstGeom>
          <a:solidFill>
            <a:srgbClr val="0E1E33"/>
          </a:solidFill>
          <a:ln w="17780">
            <a:solidFill>
              <a:srgbClr val="2B405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0" y="338328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the Player dashboard screenshot here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0" y="38587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read-only club, matches, training and own-medical view.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524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value and core responsibilities</a:t>
            </a:r>
            <a:endParaRPr lang="en-US" sz="1300" dirty="0"/>
          </a:p>
        </p:txBody>
      </p:sp>
      <p:sp>
        <p:nvSpPr>
          <p:cNvPr id="6" name="Text 4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41248" y="1783080"/>
            <a:ext cx="10479024" cy="1234440"/>
          </a:xfrm>
          <a:prstGeom prst="roundRect">
            <a:avLst>
              <a:gd name="adj" fmla="val 7407"/>
            </a:avLst>
          </a:prstGeom>
          <a:solidFill>
            <a:srgbClr val="1B3149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78992" y="208483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901952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role drives —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public face of the platform. Browses club news, squads, fixtures and live results; follows competitions and the trophy room; engages with the fan community; shops the official store; and bids against other fans in live auctions for exclusive, signed memorabilia.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78992" y="345643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31012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access: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Club Hub, Trophy Room, Competitions, Matches and Head-to-Head, plus the Club Store, the Auctions house and the News Feed.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77724" cy="548640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Fan — what they see</a:t>
            </a:r>
            <a:endParaRPr lang="en-US" sz="2300" dirty="0"/>
          </a:p>
        </p:txBody>
      </p:sp>
      <p:sp>
        <p:nvSpPr>
          <p:cNvPr id="4" name="Text 2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338560" cy="5212080"/>
          </a:xfrm>
          <a:prstGeom prst="roundRect">
            <a:avLst>
              <a:gd name="adj" fmla="val 1053"/>
            </a:avLst>
          </a:prstGeom>
          <a:solidFill>
            <a:srgbClr val="0E1E33"/>
          </a:solidFill>
          <a:ln w="17780">
            <a:solidFill>
              <a:srgbClr val="2B405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0" y="338328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the Fan dashboard screenshot here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0" y="38587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Club hub, competitions, store, auctions and the news feed.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524">
              <a:alpha val="42000"/>
            </a:srgbClr>
          </a:solidFill>
          <a:ln/>
        </p:spPr>
      </p:sp>
      <p:sp>
        <p:nvSpPr>
          <p:cNvPr id="3" name="Text 1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57800" y="2697480"/>
            <a:ext cx="1645920" cy="54864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92608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0" y="384048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capability explained, then shown live.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Role-Aware Dashboards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adaptive surface per role, from administrator to fan.</a:t>
            </a:r>
            <a:endParaRPr lang="en-US" sz="1300" dirty="0"/>
          </a:p>
        </p:txBody>
      </p:sp>
      <p:sp>
        <p:nvSpPr>
          <p:cNvPr id="5" name="Text 3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86968" y="218084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7" name="Text 5"/>
          <p:cNvSpPr/>
          <p:nvPr/>
        </p:nvSpPr>
        <p:spPr>
          <a:xfrm>
            <a:off x="1252728" y="1828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Adaptive surface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menu, page and action is tailored to the signed-in role.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86968" y="30495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9" name="Text 7"/>
          <p:cNvSpPr/>
          <p:nvPr/>
        </p:nvSpPr>
        <p:spPr>
          <a:xfrm>
            <a:off x="1252728" y="26974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Enforced twice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shared permissions map gates the sidebar and the server-side route guard.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86968" y="391820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11" name="Text 9"/>
          <p:cNvSpPr/>
          <p:nvPr/>
        </p:nvSpPr>
        <p:spPr>
          <a:xfrm>
            <a:off x="1252728" y="35661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Nine role surfaces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administrator to fan, each account sees only what it should.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77724" cy="548640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Role-Aware Dashboards  </a:t>
            </a:r>
            <a:pPr indent="0" marL="0">
              <a:buNone/>
            </a:pPr>
            <a:r>
              <a:rPr lang="en-US" sz="23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In Action</a:t>
            </a:r>
            <a:endParaRPr lang="en-US" sz="2300" dirty="0"/>
          </a:p>
        </p:txBody>
      </p:sp>
      <p:sp>
        <p:nvSpPr>
          <p:cNvPr id="4" name="Text 2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338560" cy="5394960"/>
          </a:xfrm>
          <a:prstGeom prst="roundRect">
            <a:avLst>
              <a:gd name="adj" fmla="val 1017"/>
            </a:avLst>
          </a:prstGeom>
          <a:solidFill>
            <a:srgbClr val="0E1E33"/>
          </a:solidFill>
          <a:ln w="19050">
            <a:solidFill>
              <a:srgbClr val="27B6D6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513832" y="2651760"/>
            <a:ext cx="1133856" cy="1133856"/>
          </a:xfrm>
          <a:prstGeom prst="ellipse">
            <a:avLst/>
          </a:prstGeom>
          <a:solidFill>
            <a:srgbClr val="0A1524"/>
          </a:solidFill>
          <a:ln w="25400">
            <a:solidFill>
              <a:srgbClr val="27B6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13832" y="2651760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005072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 the Role-Aware Dashboards demo video here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44805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admin or coach dashboard with its sidebar.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Multi-Sport and Multi-Team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Sports, teams, rosters, contracts and transfers in one place.</a:t>
            </a:r>
            <a:endParaRPr lang="en-US" sz="1300" dirty="0"/>
          </a:p>
        </p:txBody>
      </p:sp>
      <p:sp>
        <p:nvSpPr>
          <p:cNvPr id="5" name="Text 3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86968" y="218084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7" name="Text 5"/>
          <p:cNvSpPr/>
          <p:nvPr/>
        </p:nvSpPr>
        <p:spPr>
          <a:xfrm>
            <a:off x="1252728" y="1828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Many sports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Football, basketball, handball and more, all in one system.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86968" y="30495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9" name="Text 7"/>
          <p:cNvSpPr/>
          <p:nvPr/>
        </p:nvSpPr>
        <p:spPr>
          <a:xfrm>
            <a:off x="1252728" y="26974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and reserve squads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sport runs a senior team plus a reserve or academy team.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86968" y="391820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11" name="Text 9"/>
          <p:cNvSpPr/>
          <p:nvPr/>
        </p:nvSpPr>
        <p:spPr>
          <a:xfrm>
            <a:off x="1252728" y="35661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squad data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Players, staff, contracts and transfers managed per team.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77724" cy="548640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Multi-Sport and Multi-Team  </a:t>
            </a:r>
            <a:pPr indent="0" marL="0">
              <a:buNone/>
            </a:pPr>
            <a:r>
              <a:rPr lang="en-US" sz="23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In Action</a:t>
            </a:r>
            <a:endParaRPr lang="en-US" sz="2300" dirty="0"/>
          </a:p>
        </p:txBody>
      </p:sp>
      <p:sp>
        <p:nvSpPr>
          <p:cNvPr id="4" name="Text 2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338560" cy="5394960"/>
          </a:xfrm>
          <a:prstGeom prst="roundRect">
            <a:avLst>
              <a:gd name="adj" fmla="val 1017"/>
            </a:avLst>
          </a:prstGeom>
          <a:solidFill>
            <a:srgbClr val="0E1E33"/>
          </a:solidFill>
          <a:ln w="19050">
            <a:solidFill>
              <a:srgbClr val="27B6D6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513832" y="2651760"/>
            <a:ext cx="1133856" cy="1133856"/>
          </a:xfrm>
          <a:prstGeom prst="ellipse">
            <a:avLst/>
          </a:prstGeom>
          <a:solidFill>
            <a:srgbClr val="0A1524"/>
          </a:solidFill>
          <a:ln w="25400">
            <a:solidFill>
              <a:srgbClr val="27B6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13832" y="2651760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005072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 the Multi-Sport and Multi-Team demo video here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44805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Teams and Sports page with multi-sport squads.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Competitions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La Liga and the new-format UEFA Champions League.</a:t>
            </a:r>
            <a:endParaRPr lang="en-US" sz="1300" dirty="0"/>
          </a:p>
        </p:txBody>
      </p:sp>
      <p:sp>
        <p:nvSpPr>
          <p:cNvPr id="5" name="Text 3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86968" y="218084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7" name="Text 5"/>
          <p:cNvSpPr/>
          <p:nvPr/>
        </p:nvSpPr>
        <p:spPr>
          <a:xfrm>
            <a:off x="1252728" y="1828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Liga Live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live La Liga standings and fixtures, with results that update automatically as matches are played.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86968" y="30495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9" name="Text 7"/>
          <p:cNvSpPr/>
          <p:nvPr/>
        </p:nvSpPr>
        <p:spPr>
          <a:xfrm>
            <a:off x="1252728" y="26974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New-Format Champions League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Renders the redesigned UCL as one 36-team league-phase table with qualification zones, then unlocks the knockout bracket.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86968" y="391820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11" name="Text 9"/>
          <p:cNvSpPr/>
          <p:nvPr/>
        </p:nvSpPr>
        <p:spPr>
          <a:xfrm>
            <a:off x="1252728" y="35661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World Cup 2026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Presents the 48-team World Cup across 12 group tables and a knockout bracket, seeding the qualified teams into the Round of 32 when the draw is TBD.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86968" y="478688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13" name="Text 11"/>
          <p:cNvSpPr/>
          <p:nvPr/>
        </p:nvSpPr>
        <p:spPr>
          <a:xfrm>
            <a:off x="1252728" y="44348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Head-to-Head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FC Barcelona's all-time win-draw-loss record, goals and win-rate against every opponent from finished matches.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77724" cy="548640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Competitions  </a:t>
            </a:r>
            <a:pPr indent="0" marL="0">
              <a:buNone/>
            </a:pPr>
            <a:r>
              <a:rPr lang="en-US" sz="23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In Action</a:t>
            </a:r>
            <a:endParaRPr lang="en-US" sz="2300" dirty="0"/>
          </a:p>
        </p:txBody>
      </p:sp>
      <p:sp>
        <p:nvSpPr>
          <p:cNvPr id="4" name="Text 2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338560" cy="5394960"/>
          </a:xfrm>
          <a:prstGeom prst="roundRect">
            <a:avLst>
              <a:gd name="adj" fmla="val 1017"/>
            </a:avLst>
          </a:prstGeom>
          <a:solidFill>
            <a:srgbClr val="0E1E33"/>
          </a:solidFill>
          <a:ln w="19050">
            <a:solidFill>
              <a:srgbClr val="27B6D6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513832" y="2651760"/>
            <a:ext cx="1133856" cy="1133856"/>
          </a:xfrm>
          <a:prstGeom prst="ellipse">
            <a:avLst/>
          </a:prstGeom>
          <a:solidFill>
            <a:srgbClr val="0A1524"/>
          </a:solidFill>
          <a:ln w="25400">
            <a:solidFill>
              <a:srgbClr val="27B6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13832" y="2651760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005072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 the Real Competitions demo video here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44805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 Liga table or the Champions League league-phase.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524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Live-Match Engine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broadcast-style match-day cockpit, run minute by minute.</a:t>
            </a:r>
            <a:endParaRPr lang="en-US" sz="1300" dirty="0"/>
          </a:p>
        </p:txBody>
      </p:sp>
      <p:sp>
        <p:nvSpPr>
          <p:cNvPr id="6" name="Text 4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86968" y="218084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8" name="Text 6"/>
          <p:cNvSpPr/>
          <p:nvPr/>
        </p:nvSpPr>
        <p:spPr>
          <a:xfrm>
            <a:off x="1252728" y="1828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State Machine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Walks every match through scheduled → first half → half time → second half → full time, auto-going-live at kickoff.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86968" y="30495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10" name="Text 8"/>
          <p:cNvSpPr/>
          <p:nvPr/>
        </p:nvSpPr>
        <p:spPr>
          <a:xfrm>
            <a:off x="1252728" y="26974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Phase-Bound Events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 goals, cards, subs and injuries against a live clock, clamping each event's minute to the phase in play.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86968" y="391820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12" name="Text 10"/>
          <p:cNvSpPr/>
          <p:nvPr/>
        </p:nvSpPr>
        <p:spPr>
          <a:xfrm>
            <a:off x="1252728" y="35661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Knockout Decider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Triggers two extra-time periods and an alternating penalty shoot-out only when a true knockout tie is still level.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86968" y="478688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14" name="Text 12"/>
          <p:cNvSpPr/>
          <p:nvPr/>
        </p:nvSpPr>
        <p:spPr>
          <a:xfrm>
            <a:off x="1252728" y="44348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Persistence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Streams every score change, event and status flip to the training-match service so the timeline survives a reload.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77724" cy="548640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Live-Match Engine  </a:t>
            </a:r>
            <a:pPr indent="0" marL="0">
              <a:buNone/>
            </a:pPr>
            <a:r>
              <a:rPr lang="en-US" sz="23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In Action</a:t>
            </a:r>
            <a:endParaRPr lang="en-US" sz="2300" dirty="0"/>
          </a:p>
        </p:txBody>
      </p:sp>
      <p:sp>
        <p:nvSpPr>
          <p:cNvPr id="4" name="Text 2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338560" cy="5394960"/>
          </a:xfrm>
          <a:prstGeom prst="roundRect">
            <a:avLst>
              <a:gd name="adj" fmla="val 1017"/>
            </a:avLst>
          </a:prstGeom>
          <a:solidFill>
            <a:srgbClr val="0E1E33"/>
          </a:solidFill>
          <a:ln w="19050">
            <a:solidFill>
              <a:srgbClr val="27B6D6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513832" y="2651760"/>
            <a:ext cx="1133856" cy="1133856"/>
          </a:xfrm>
          <a:prstGeom prst="ellipse">
            <a:avLst/>
          </a:prstGeom>
          <a:solidFill>
            <a:srgbClr val="0A1524"/>
          </a:solidFill>
          <a:ln w="25400">
            <a:solidFill>
              <a:srgbClr val="27B6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13832" y="2651760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005072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 the Live-Match Engine demo video here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44805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live match: clock, events and the add-event panel.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524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Injury Management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medically-governed return-to-play pipeline.</a:t>
            </a:r>
            <a:endParaRPr lang="en-US" sz="1300" dirty="0"/>
          </a:p>
        </p:txBody>
      </p:sp>
      <p:sp>
        <p:nvSpPr>
          <p:cNvPr id="6" name="Text 4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86968" y="218084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8" name="Text 6"/>
          <p:cNvSpPr/>
          <p:nvPr/>
        </p:nvSpPr>
        <p:spPr>
          <a:xfrm>
            <a:off x="1252728" y="1828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Staged Injury Lifecycle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Drives every injury through REPORTED → DIAGNOSED → TREATING → RECOVERING → RECOVERED as the status that gates each next action.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86968" y="30495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10" name="Text 8"/>
          <p:cNvSpPr/>
          <p:nvPr/>
        </p:nvSpPr>
        <p:spPr>
          <a:xfrm>
            <a:off x="1252728" y="26974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Source of Truth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Makes the medical service the one authority on availability, so card, stepper and squad all read the same status.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86968" y="391820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12" name="Text 10"/>
          <p:cNvSpPr/>
          <p:nvPr/>
        </p:nvSpPr>
        <p:spPr>
          <a:xfrm>
            <a:off x="1252728" y="35661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Auto-Removal When Injured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Pulls an injured player out of match line-ups, training and attendance the moment the injury is logged, and notifies the team.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86968" y="478688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14" name="Text 12"/>
          <p:cNvSpPr/>
          <p:nvPr/>
        </p:nvSpPr>
        <p:spPr>
          <a:xfrm>
            <a:off x="1252728" y="44348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Mandatory Fitness Test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Requires a passing return-to-play fitness test before the player flips to RECOVERED and is restored as AVAILABLE.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77724" cy="548640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Injury Management  </a:t>
            </a:r>
            <a:pPr indent="0" marL="0">
              <a:buNone/>
            </a:pPr>
            <a:r>
              <a:rPr lang="en-US" sz="23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In Action</a:t>
            </a:r>
            <a:endParaRPr lang="en-US" sz="2300" dirty="0"/>
          </a:p>
        </p:txBody>
      </p:sp>
      <p:sp>
        <p:nvSpPr>
          <p:cNvPr id="4" name="Text 2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338560" cy="5394960"/>
          </a:xfrm>
          <a:prstGeom prst="roundRect">
            <a:avLst>
              <a:gd name="adj" fmla="val 1017"/>
            </a:avLst>
          </a:prstGeom>
          <a:solidFill>
            <a:srgbClr val="0E1E33"/>
          </a:solidFill>
          <a:ln w="19050">
            <a:solidFill>
              <a:srgbClr val="27B6D6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513832" y="2651760"/>
            <a:ext cx="1133856" cy="1133856"/>
          </a:xfrm>
          <a:prstGeom prst="ellipse">
            <a:avLst/>
          </a:prstGeom>
          <a:solidFill>
            <a:srgbClr val="0A1524"/>
          </a:solidFill>
          <a:ln w="25400">
            <a:solidFill>
              <a:srgbClr val="27B6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13832" y="2651760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005072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 the Advanced Injury Management demo video here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44805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player's staged medical recovery journey.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524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Plan-Driven Training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season plan to scored session, one squad at a time.</a:t>
            </a:r>
            <a:endParaRPr lang="en-US" sz="1300" dirty="0"/>
          </a:p>
        </p:txBody>
      </p:sp>
      <p:sp>
        <p:nvSpPr>
          <p:cNvPr id="6" name="Text 4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86968" y="218084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8" name="Text 6"/>
          <p:cNvSpPr/>
          <p:nvPr/>
        </p:nvSpPr>
        <p:spPr>
          <a:xfrm>
            <a:off x="1252728" y="1828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Plans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Anchors one plan to a single team and sport, with a start-to-end date range, training type, goals and focus that every session inherits.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86968" y="30495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10" name="Text 8"/>
          <p:cNvSpPr/>
          <p:nvPr/>
        </p:nvSpPr>
        <p:spPr>
          <a:xfrm>
            <a:off x="1252728" y="26974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Sessions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Places each session at its own date and time inside the plan's range, then lists them in chronological order with a done count.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86968" y="391820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12" name="Text 10"/>
          <p:cNvSpPr/>
          <p:nvPr/>
        </p:nvSpPr>
        <p:spPr>
          <a:xfrm>
            <a:off x="1252728" y="35661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Ordered Drills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Stamps each drill with a category, duration and sequence, and rejects the session if the drills' total minutes reach the session length.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86968" y="478688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14" name="Text 12"/>
          <p:cNvSpPr/>
          <p:nvPr/>
        </p:nvSpPr>
        <p:spPr>
          <a:xfrm>
            <a:off x="1252728" y="44348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Squad Attendance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 a per-player status and offers only non-injured players who belong to that plan's team for call-up.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77724" cy="548640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Plan-Driven Training  </a:t>
            </a:r>
            <a:pPr indent="0" marL="0">
              <a:buNone/>
            </a:pPr>
            <a:r>
              <a:rPr lang="en-US" sz="23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In Action</a:t>
            </a:r>
            <a:endParaRPr lang="en-US" sz="2300" dirty="0"/>
          </a:p>
        </p:txBody>
      </p:sp>
      <p:sp>
        <p:nvSpPr>
          <p:cNvPr id="4" name="Text 2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338560" cy="5394960"/>
          </a:xfrm>
          <a:prstGeom prst="roundRect">
            <a:avLst>
              <a:gd name="adj" fmla="val 1017"/>
            </a:avLst>
          </a:prstGeom>
          <a:solidFill>
            <a:srgbClr val="0E1E33"/>
          </a:solidFill>
          <a:ln w="19050">
            <a:solidFill>
              <a:srgbClr val="27B6D6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513832" y="2651760"/>
            <a:ext cx="1133856" cy="1133856"/>
          </a:xfrm>
          <a:prstGeom prst="ellipse">
            <a:avLst/>
          </a:prstGeom>
          <a:solidFill>
            <a:srgbClr val="0A1524"/>
          </a:solidFill>
          <a:ln w="25400">
            <a:solidFill>
              <a:srgbClr val="27B6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13832" y="2651760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005072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 the Plan-Driven Training demo video here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44805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training plan with its sessions, drills and attendance.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Scouting and Sponsorship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Scout reports on prospects and sponsor-offer negotiation.</a:t>
            </a:r>
            <a:endParaRPr lang="en-US" sz="1300" dirty="0"/>
          </a:p>
        </p:txBody>
      </p:sp>
      <p:sp>
        <p:nvSpPr>
          <p:cNvPr id="5" name="Text 3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86968" y="218084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7" name="Text 5"/>
          <p:cNvSpPr/>
          <p:nvPr/>
        </p:nvSpPr>
        <p:spPr>
          <a:xfrm>
            <a:off x="1252728" y="1828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Sign-or-pass reports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Scouts log structured reports (country, position, club, sport), grouped by sport.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86968" y="30495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9" name="Text 7"/>
          <p:cNvSpPr/>
          <p:nvPr/>
        </p:nvSpPr>
        <p:spPr>
          <a:xfrm>
            <a:off x="1252728" y="26974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Sponsor negotiation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Offers move through pending, counter-offer and accepted states.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86968" y="391820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11" name="Text 9"/>
          <p:cNvSpPr/>
          <p:nvPr/>
        </p:nvSpPr>
        <p:spPr>
          <a:xfrm>
            <a:off x="1252728" y="35661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Auto-routed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new report emails and alerts the sport manager automatically.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77724" cy="548640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Scouting and Sponsorship  </a:t>
            </a:r>
            <a:pPr indent="0" marL="0">
              <a:buNone/>
            </a:pPr>
            <a:r>
              <a:rPr lang="en-US" sz="23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In Action</a:t>
            </a:r>
            <a:endParaRPr lang="en-US" sz="2300" dirty="0"/>
          </a:p>
        </p:txBody>
      </p:sp>
      <p:sp>
        <p:nvSpPr>
          <p:cNvPr id="4" name="Text 2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338560" cy="5394960"/>
          </a:xfrm>
          <a:prstGeom prst="roundRect">
            <a:avLst>
              <a:gd name="adj" fmla="val 1017"/>
            </a:avLst>
          </a:prstGeom>
          <a:solidFill>
            <a:srgbClr val="0E1E33"/>
          </a:solidFill>
          <a:ln w="19050">
            <a:solidFill>
              <a:srgbClr val="27B6D6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513832" y="2651760"/>
            <a:ext cx="1133856" cy="1133856"/>
          </a:xfrm>
          <a:prstGeom prst="ellipse">
            <a:avLst/>
          </a:prstGeom>
          <a:solidFill>
            <a:srgbClr val="0A1524"/>
          </a:solidFill>
          <a:ln w="25400">
            <a:solidFill>
              <a:srgbClr val="27B6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13832" y="2651760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005072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 the Scouting and Sponsorship demo video here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44805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scouting report and a sponsor-offer negotiation.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Messaging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Club-wide group chat, delivered to every member.</a:t>
            </a:r>
            <a:endParaRPr lang="en-US" sz="1300" dirty="0"/>
          </a:p>
        </p:txBody>
      </p:sp>
      <p:sp>
        <p:nvSpPr>
          <p:cNvPr id="5" name="Text 3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86968" y="218084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7" name="Text 5"/>
          <p:cNvSpPr/>
          <p:nvPr/>
        </p:nvSpPr>
        <p:spPr>
          <a:xfrm>
            <a:off x="1252728" y="1828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delivery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message posted to a group reaches every member of that group.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86968" y="30495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9" name="Text 7"/>
          <p:cNvSpPr/>
          <p:nvPr/>
        </p:nvSpPr>
        <p:spPr>
          <a:xfrm>
            <a:off x="1252728" y="26974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Reactions and replies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Threaded replies and reactions keep conversations organized.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86968" y="391820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11" name="Text 9"/>
          <p:cNvSpPr/>
          <p:nvPr/>
        </p:nvSpPr>
        <p:spPr>
          <a:xfrm>
            <a:off x="1252728" y="35661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Team-scoped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and players only; fans stay on the spectator surface.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77724" cy="548640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Messaging  </a:t>
            </a:r>
            <a:pPr indent="0" marL="0">
              <a:buNone/>
            </a:pPr>
            <a:r>
              <a:rPr lang="en-US" sz="23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In Action</a:t>
            </a:r>
            <a:endParaRPr lang="en-US" sz="2300" dirty="0"/>
          </a:p>
        </p:txBody>
      </p:sp>
      <p:sp>
        <p:nvSpPr>
          <p:cNvPr id="4" name="Text 2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338560" cy="5394960"/>
          </a:xfrm>
          <a:prstGeom prst="roundRect">
            <a:avLst>
              <a:gd name="adj" fmla="val 1017"/>
            </a:avLst>
          </a:prstGeom>
          <a:solidFill>
            <a:srgbClr val="0E1E33"/>
          </a:solidFill>
          <a:ln w="19050">
            <a:solidFill>
              <a:srgbClr val="27B6D6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513832" y="2651760"/>
            <a:ext cx="1133856" cy="1133856"/>
          </a:xfrm>
          <a:prstGeom prst="ellipse">
            <a:avLst/>
          </a:prstGeom>
          <a:solidFill>
            <a:srgbClr val="0A1524"/>
          </a:solidFill>
          <a:ln w="25400">
            <a:solidFill>
              <a:srgbClr val="27B6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13832" y="2651760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005072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 the Team Messaging demo video here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44805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team-chat group conversation.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and ML Predictions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Match-outcome and player-rating predictions on real data.</a:t>
            </a:r>
            <a:endParaRPr lang="en-US" sz="1300" dirty="0"/>
          </a:p>
        </p:txBody>
      </p:sp>
      <p:sp>
        <p:nvSpPr>
          <p:cNvPr id="5" name="Text 3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86968" y="218084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7" name="Text 5"/>
          <p:cNvSpPr/>
          <p:nvPr/>
        </p:nvSpPr>
        <p:spPr>
          <a:xfrm>
            <a:off x="1252728" y="1828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 dashboards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Aggregates team, player and training KPIs from real records.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86968" y="30495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9" name="Text 7"/>
          <p:cNvSpPr/>
          <p:nvPr/>
        </p:nvSpPr>
        <p:spPr>
          <a:xfrm>
            <a:off x="1252728" y="26974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 predictor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Python and FastAPI service forecasts match outcomes.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86968" y="391820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11" name="Text 9"/>
          <p:cNvSpPr/>
          <p:nvPr/>
        </p:nvSpPr>
        <p:spPr>
          <a:xfrm>
            <a:off x="1252728" y="35661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ratings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ML 0-100 rating informs selection and scouting.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77724" cy="548640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and ML Predictions  </a:t>
            </a:r>
            <a:pPr indent="0" marL="0">
              <a:buNone/>
            </a:pPr>
            <a:r>
              <a:rPr lang="en-US" sz="23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In Action</a:t>
            </a:r>
            <a:endParaRPr lang="en-US" sz="2300" dirty="0"/>
          </a:p>
        </p:txBody>
      </p:sp>
      <p:sp>
        <p:nvSpPr>
          <p:cNvPr id="4" name="Text 2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338560" cy="5394960"/>
          </a:xfrm>
          <a:prstGeom prst="roundRect">
            <a:avLst>
              <a:gd name="adj" fmla="val 1017"/>
            </a:avLst>
          </a:prstGeom>
          <a:solidFill>
            <a:srgbClr val="0E1E33"/>
          </a:solidFill>
          <a:ln w="19050">
            <a:solidFill>
              <a:srgbClr val="27B6D6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513832" y="2651760"/>
            <a:ext cx="1133856" cy="1133856"/>
          </a:xfrm>
          <a:prstGeom prst="ellipse">
            <a:avLst/>
          </a:prstGeom>
          <a:solidFill>
            <a:srgbClr val="0A1524"/>
          </a:solidFill>
          <a:ln w="25400">
            <a:solidFill>
              <a:srgbClr val="27B6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13832" y="2651760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005072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 the Analytics and ML Predictions demo video here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44805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Analytics dashboard or the ML predictor and rating.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Notifications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whole club, kept in the loop in real time.</a:t>
            </a:r>
            <a:endParaRPr lang="en-US" sz="1300" dirty="0"/>
          </a:p>
        </p:txBody>
      </p:sp>
      <p:sp>
        <p:nvSpPr>
          <p:cNvPr id="5" name="Text 3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86968" y="218084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7" name="Text 5"/>
          <p:cNvSpPr/>
          <p:nvPr/>
        </p:nvSpPr>
        <p:spPr>
          <a:xfrm>
            <a:off x="1252728" y="1828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Top-bar bell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Injuries, goals, transfers and report-ready events surface instantly.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86968" y="30495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9" name="Text 7"/>
          <p:cNvSpPr/>
          <p:nvPr/>
        </p:nvSpPr>
        <p:spPr>
          <a:xfrm>
            <a:off x="1252728" y="26974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Event-driven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Kafka events fan out to the notification service, with email.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86968" y="391820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11" name="Text 9"/>
          <p:cNvSpPr/>
          <p:nvPr/>
        </p:nvSpPr>
        <p:spPr>
          <a:xfrm>
            <a:off x="1252728" y="35661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Alerts center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full history of everything that happened.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77724" cy="548640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Notifications  </a:t>
            </a:r>
            <a:pPr indent="0" marL="0">
              <a:buNone/>
            </a:pPr>
            <a:r>
              <a:rPr lang="en-US" sz="23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In Action</a:t>
            </a:r>
            <a:endParaRPr lang="en-US" sz="2300" dirty="0"/>
          </a:p>
        </p:txBody>
      </p:sp>
      <p:sp>
        <p:nvSpPr>
          <p:cNvPr id="4" name="Text 2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338560" cy="5394960"/>
          </a:xfrm>
          <a:prstGeom prst="roundRect">
            <a:avLst>
              <a:gd name="adj" fmla="val 1017"/>
            </a:avLst>
          </a:prstGeom>
          <a:solidFill>
            <a:srgbClr val="0E1E33"/>
          </a:solidFill>
          <a:ln w="19050">
            <a:solidFill>
              <a:srgbClr val="27B6D6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513832" y="2651760"/>
            <a:ext cx="1133856" cy="1133856"/>
          </a:xfrm>
          <a:prstGeom prst="ellipse">
            <a:avLst/>
          </a:prstGeom>
          <a:solidFill>
            <a:srgbClr val="0A1524"/>
          </a:solidFill>
          <a:ln w="25400">
            <a:solidFill>
              <a:srgbClr val="27B6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13832" y="2651760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005072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 the Live Notifications demo video here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44805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notifications bell open, or the Alerts center.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Club Assistant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Phase-1 intelligent assistant, the Barca Assistant.</a:t>
            </a:r>
            <a:endParaRPr lang="en-US" sz="1300" dirty="0"/>
          </a:p>
        </p:txBody>
      </p:sp>
      <p:sp>
        <p:nvSpPr>
          <p:cNvPr id="5" name="Text 3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86968" y="218084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7" name="Text 5"/>
          <p:cNvSpPr/>
          <p:nvPr/>
        </p:nvSpPr>
        <p:spPr>
          <a:xfrm>
            <a:off x="1252728" y="1828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Domain-specific Q&amp;A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questions about the club: sports, players, trophies and fixtures.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86968" y="30495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9" name="Text 7"/>
          <p:cNvSpPr/>
          <p:nvPr/>
        </p:nvSpPr>
        <p:spPr>
          <a:xfrm>
            <a:off x="1252728" y="26974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Bilingual replies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Responds naturally in more than one language for fans and staff.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86968" y="391820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7B6D6"/>
          </a:solidFill>
          <a:ln/>
        </p:spPr>
      </p:sp>
      <p:sp>
        <p:nvSpPr>
          <p:cNvPr id="11" name="Text 9"/>
          <p:cNvSpPr/>
          <p:nvPr/>
        </p:nvSpPr>
        <p:spPr>
          <a:xfrm>
            <a:off x="1252728" y="35661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micro-service + LLM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dedicated FastAPI service backed by an LLM. Phase 1, built to grow.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77724" cy="548640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Club Assistant  </a:t>
            </a:r>
            <a:pPr indent="0" marL="0">
              <a:buNone/>
            </a:pPr>
            <a:r>
              <a:rPr lang="en-US" sz="23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In Action</a:t>
            </a:r>
            <a:endParaRPr lang="en-US" sz="2300" dirty="0"/>
          </a:p>
        </p:txBody>
      </p:sp>
      <p:sp>
        <p:nvSpPr>
          <p:cNvPr id="4" name="Text 2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338560" cy="5394960"/>
          </a:xfrm>
          <a:prstGeom prst="roundRect">
            <a:avLst>
              <a:gd name="adj" fmla="val 1017"/>
            </a:avLst>
          </a:prstGeom>
          <a:solidFill>
            <a:srgbClr val="0E1E33"/>
          </a:solidFill>
          <a:ln w="19050">
            <a:solidFill>
              <a:srgbClr val="27B6D6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513832" y="2651760"/>
            <a:ext cx="1133856" cy="1133856"/>
          </a:xfrm>
          <a:prstGeom prst="ellipse">
            <a:avLst/>
          </a:prstGeom>
          <a:solidFill>
            <a:srgbClr val="0A1524"/>
          </a:solidFill>
          <a:ln w="25400">
            <a:solidFill>
              <a:srgbClr val="27B6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13832" y="2651760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005072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 the AI Club Assistant demo video here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44805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Barca Assistant answering a club question.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524">
              <a:alpha val="42000"/>
            </a:srgbClr>
          </a:solidFill>
          <a:ln/>
        </p:spPr>
      </p:sp>
      <p:sp>
        <p:nvSpPr>
          <p:cNvPr id="3" name="Text 1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57800" y="2697480"/>
            <a:ext cx="1645920" cy="54864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92608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Work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0" y="384048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phases: a fan store and auctions, then a full engagement economy.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524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 — Club Store and Auctions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Turning fans into customers</a:t>
            </a:r>
            <a:endParaRPr lang="en-US" sz="1300" dirty="0"/>
          </a:p>
        </p:txBody>
      </p:sp>
      <p:sp>
        <p:nvSpPr>
          <p:cNvPr id="6" name="Text 4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5349240" cy="2075688"/>
          </a:xfrm>
          <a:prstGeom prst="roundRect">
            <a:avLst>
              <a:gd name="adj" fmla="val 4405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1929384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9" name="Text 7"/>
          <p:cNvSpPr/>
          <p:nvPr/>
        </p:nvSpPr>
        <p:spPr>
          <a:xfrm>
            <a:off x="1060704" y="1819656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Club Store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6384" y="2295144"/>
            <a:ext cx="492861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online merchandise store for fans: kits, training gear and memorabilia, with secure checkout and order tracking.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349240" cy="2075688"/>
          </a:xfrm>
          <a:prstGeom prst="roundRect">
            <a:avLst>
              <a:gd name="adj" fmla="val 4405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64808" y="1929384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13" name="Text 11"/>
          <p:cNvSpPr/>
          <p:nvPr/>
        </p:nvSpPr>
        <p:spPr>
          <a:xfrm>
            <a:off x="6739128" y="1819656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Bidding / Auction System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64808" y="2295144"/>
            <a:ext cx="492861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Timed auctions for exclusive, one-of-a-kind items where fans bid against each other in real time, with a live highest-bid, anti-snipe extension and a winner checkout.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096512"/>
            <a:ext cx="5349240" cy="2075688"/>
          </a:xfrm>
          <a:prstGeom prst="roundRect">
            <a:avLst>
              <a:gd name="adj" fmla="val 4405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86384" y="433425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17" name="Text 15"/>
          <p:cNvSpPr/>
          <p:nvPr/>
        </p:nvSpPr>
        <p:spPr>
          <a:xfrm>
            <a:off x="1060704" y="4224528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Exclusive Signed Items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6384" y="4700016"/>
            <a:ext cx="492861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auction's headline lots: gear signed by players, the coach or the club president. Scarcity drives the highest bids and margins.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5352" y="4096512"/>
            <a:ext cx="5349240" cy="2075688"/>
          </a:xfrm>
          <a:prstGeom prst="roundRect">
            <a:avLst>
              <a:gd name="adj" fmla="val 4405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33425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21" name="Text 19"/>
          <p:cNvSpPr/>
          <p:nvPr/>
        </p:nvSpPr>
        <p:spPr>
          <a:xfrm>
            <a:off x="6739128" y="4224528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on the Platform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64808" y="4700016"/>
            <a:ext cx="492861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Reuses the existing identity, notifications and payment rails, so the store and auctions plug straight into the current system.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524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 — Fan Engagement and Monetization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Scaling reach and revenue</a:t>
            </a:r>
            <a:endParaRPr lang="en-US" sz="1300" dirty="0"/>
          </a:p>
        </p:txBody>
      </p:sp>
      <p:sp>
        <p:nvSpPr>
          <p:cNvPr id="6" name="Text 4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5349240" cy="2075688"/>
          </a:xfrm>
          <a:prstGeom prst="roundRect">
            <a:avLst>
              <a:gd name="adj" fmla="val 4405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1929384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9" name="Text 7"/>
          <p:cNvSpPr/>
          <p:nvPr/>
        </p:nvSpPr>
        <p:spPr>
          <a:xfrm>
            <a:off x="1060704" y="1819656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Fans and Sponsors Ad Board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6384" y="2295144"/>
            <a:ext cx="492861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tailored advertisement board with placed, targeted slots that fans and sponsors can buy, turning audience reach into recurring revenue.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349240" cy="2075688"/>
          </a:xfrm>
          <a:prstGeom prst="roundRect">
            <a:avLst>
              <a:gd name="adj" fmla="val 4405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64808" y="1929384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13" name="Text 11"/>
          <p:cNvSpPr/>
          <p:nvPr/>
        </p:nvSpPr>
        <p:spPr>
          <a:xfrm>
            <a:off x="6739128" y="1819656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Club News Feed and Page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64808" y="2295144"/>
            <a:ext cx="492861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comprehensive news feed and club page for official updates, match recaps, signings and announcements: the fan home of the platform.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096512"/>
            <a:ext cx="5349240" cy="2075688"/>
          </a:xfrm>
          <a:prstGeom prst="roundRect">
            <a:avLst>
              <a:gd name="adj" fmla="val 4405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86384" y="433425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17" name="Text 15"/>
          <p:cNvSpPr/>
          <p:nvPr/>
        </p:nvSpPr>
        <p:spPr>
          <a:xfrm>
            <a:off x="1060704" y="4224528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Mobile Apps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6384" y="4700016"/>
            <a:ext cx="492861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iOS and Android apps with push notifications so fans, staff and players stay engaged on the move.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5352" y="4096512"/>
            <a:ext cx="5349240" cy="2075688"/>
          </a:xfrm>
          <a:prstGeom prst="roundRect">
            <a:avLst>
              <a:gd name="adj" fmla="val 4405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33425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21" name="Text 19"/>
          <p:cNvSpPr/>
          <p:nvPr/>
        </p:nvSpPr>
        <p:spPr>
          <a:xfrm>
            <a:off x="6739128" y="4224528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Deeper ML and Wearables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64808" y="4700016"/>
            <a:ext cx="492861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Richer predictions fed by live in-match features and wearable biometrics streamed into player profiles.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524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 Got from This Project — Financial Section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distinct, realistic revenue streams — each with its own payer and mechanism</a:t>
            </a:r>
            <a:endParaRPr lang="en-US" sz="1300" dirty="0"/>
          </a:p>
        </p:txBody>
      </p:sp>
      <p:sp>
        <p:nvSpPr>
          <p:cNvPr id="6" name="Text 4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456432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1883664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9" name="Text 7"/>
          <p:cNvSpPr/>
          <p:nvPr/>
        </p:nvSpPr>
        <p:spPr>
          <a:xfrm>
            <a:off x="1060704" y="1773936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B2B SaaS Subscription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6384" y="2249424"/>
            <a:ext cx="3035808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core, recurring revenue: clubs and academies pay a tiered monthly or annual subscription to run their operations on the platform. Payer: clubs.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52544" y="1645920"/>
            <a:ext cx="3456432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883664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773936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Auction Commission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249424"/>
            <a:ext cx="3035808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percentage cut of every completed sale in the fan bidding system — a purely transactional fee on exclusive, signed memorabilia. Payer: bidding fans.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645920"/>
            <a:ext cx="3456432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57616" y="1883664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17" name="Text 15"/>
          <p:cNvSpPr/>
          <p:nvPr/>
        </p:nvSpPr>
        <p:spPr>
          <a:xfrm>
            <a:off x="8631936" y="1773936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Sales Margin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57616" y="2249424"/>
            <a:ext cx="3035808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commission on fixed-price official merchandise sold through the club store — distinct from auctions in mechanism and catalog. Payer: shopping fans.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055364"/>
            <a:ext cx="3456432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6384" y="429310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21" name="Text 19"/>
          <p:cNvSpPr/>
          <p:nvPr/>
        </p:nvSpPr>
        <p:spPr>
          <a:xfrm>
            <a:off x="1060704" y="4183380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Sponsorship &amp; Targeted Ads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86384" y="4658868"/>
            <a:ext cx="3035808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Paid, targeted placements and sponsor packages on the fan-facing surface (ad board and news feed), priced by audience reach. Payer: sponsors and advertisers.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52544" y="4055364"/>
            <a:ext cx="3456432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429310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7B6D6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4183380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Premium Fan Membership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0" y="4658868"/>
            <a:ext cx="3035808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optional recurring fan tier: early auction access and exclusive content — a different payer and cadence from the club SaaS. Payer: fans.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524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Sustainability and Business Model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base, transactional upside, one platform for many clubs</a:t>
            </a:r>
            <a:endParaRPr lang="en-US" sz="1300" dirty="0"/>
          </a:p>
        </p:txBody>
      </p:sp>
      <p:sp>
        <p:nvSpPr>
          <p:cNvPr id="6" name="Text 4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96112" y="1929384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7830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base —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 licensing to clubs and academies gives predictable, recurring revenue.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96112" y="277063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62432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Transactional upside —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sales, auction commission and ad placements scale with fan engagement.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96112" y="36118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465576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marginal cost —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cloud platform serves many clubs, so each new customer is mostly profit.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445312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4306824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Reinvestment loop —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funds richer ML, mobile apps and more sports, which attract more clubs and fans.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96112" y="5294376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7B6D6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514807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to product —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graduation project with a credible, staged path to a real, sustainable business.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524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2900" dirty="0"/>
          </a:p>
        </p:txBody>
      </p:sp>
      <p:sp>
        <p:nvSpPr>
          <p:cNvPr id="5" name="Text 3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071616" y="1554480"/>
            <a:ext cx="16459" cy="4160520"/>
          </a:xfrm>
          <a:prstGeom prst="rect">
            <a:avLst/>
          </a:prstGeom>
          <a:solidFill>
            <a:srgbClr val="2B405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727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Big Picture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218541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27B6D6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21488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Turns a club's scattered, manual operations into one secure, real-time platform.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309981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27B6D6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30632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value for every audience: staff run the club, players stay informed, fans stay engaged.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401421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27B6D6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" y="39776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competitions, a live-match engine and a complete medical workflow on real data.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1520" y="492861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27B6D6"/>
          </a:solidFill>
          <a:ln/>
        </p:spPr>
      </p:sp>
      <p:sp>
        <p:nvSpPr>
          <p:cNvPr id="15" name="Text 13"/>
          <p:cNvSpPr/>
          <p:nvPr/>
        </p:nvSpPr>
        <p:spPr>
          <a:xfrm>
            <a:off x="1024128" y="48920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extensible foundation ready for a fan store, auctions and a wider sporting world.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55080" y="15727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Technology and Why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82512" y="21031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microservices —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independent scaling and a database per service: clean separation of concerns.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82512" y="276148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 + Keycloak —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secure entry point with role-based access enforced on every request.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82512" y="3419856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Apache Kafka —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event-driven, so notifications and analytics never block the user.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82512" y="407822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/ React —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fast, role-aware UI delivered from a single API origin.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82512" y="473659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FastAPI + LLM —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predictions and a club assistant, kept as separate services.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82512" y="53949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—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whole stack reproducibly containerized for deployment.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" y="5870448"/>
            <a:ext cx="10789920" cy="11887"/>
          </a:xfrm>
          <a:prstGeom prst="rect">
            <a:avLst/>
          </a:prstGeom>
          <a:solidFill>
            <a:srgbClr val="2B405C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E6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sincere gratitude to our supervisor Dr. Shaimaa Saber, the Faculty of Computers and Information, and Menoufia University.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524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4206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Members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59536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Supervised by Dr. Shaimaa Saber</a:t>
            </a:r>
            <a:endParaRPr lang="en-US" sz="1300" dirty="0"/>
          </a:p>
        </p:txBody>
      </p:sp>
      <p:sp>
        <p:nvSpPr>
          <p:cNvPr id="6" name="Text 4">
            <a:hlinkClick r:id="rId2" tooltip="Back to Index" action="ppaction://hlinksldjump"/>
          </p:cNvPr>
          <p:cNvSpPr/>
          <p:nvPr/>
        </p:nvSpPr>
        <p:spPr>
          <a:xfrm>
            <a:off x="1056132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Back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78308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47672" y="1984248"/>
            <a:ext cx="1133856" cy="1133856"/>
          </a:xfrm>
          <a:prstGeom prst="ellipse">
            <a:avLst/>
          </a:prstGeom>
          <a:solidFill>
            <a:srgbClr val="0F2840"/>
          </a:solidFill>
          <a:ln w="17780">
            <a:solidFill>
              <a:srgbClr val="27B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47672" y="1984248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32095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Mohamed Salem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617720" y="178308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1B3149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96712" y="1984248"/>
            <a:ext cx="1133856" cy="1133856"/>
          </a:xfrm>
          <a:prstGeom prst="ellipse">
            <a:avLst/>
          </a:prstGeom>
          <a:solidFill>
            <a:srgbClr val="0F2840"/>
          </a:solidFill>
          <a:ln w="17780">
            <a:solidFill>
              <a:srgbClr val="27B6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96712" y="1984248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32095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Mohamed Abdellatief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366760" y="178308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445752" y="1984248"/>
            <a:ext cx="1133856" cy="1133856"/>
          </a:xfrm>
          <a:prstGeom prst="ellipse">
            <a:avLst/>
          </a:prstGeom>
          <a:solidFill>
            <a:srgbClr val="0F2840"/>
          </a:solidFill>
          <a:ln w="17780">
            <a:solidFill>
              <a:srgbClr val="27B6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45752" y="1984248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58200" y="32095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Mariam Mohamed Ahmed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68680" y="411480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1B3149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947672" y="4315968"/>
            <a:ext cx="1133856" cy="1133856"/>
          </a:xfrm>
          <a:prstGeom prst="ellipse">
            <a:avLst/>
          </a:prstGeom>
          <a:solidFill>
            <a:srgbClr val="0F2840"/>
          </a:solidFill>
          <a:ln w="17780">
            <a:solidFill>
              <a:srgbClr val="27B6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47672" y="4315968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554126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Eman Ahmed Elboghdady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4617720" y="411480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96712" y="4315968"/>
            <a:ext cx="1133856" cy="1133856"/>
          </a:xfrm>
          <a:prstGeom prst="ellipse">
            <a:avLst/>
          </a:prstGeom>
          <a:solidFill>
            <a:srgbClr val="0F2840"/>
          </a:solidFill>
          <a:ln w="17780">
            <a:solidFill>
              <a:srgbClr val="27B6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96712" y="4315968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554126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Khaled Mohamed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366760" y="411480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1B3149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445752" y="4315968"/>
            <a:ext cx="1133856" cy="1133856"/>
          </a:xfrm>
          <a:prstGeom prst="ellipse">
            <a:avLst/>
          </a:prstGeom>
          <a:solidFill>
            <a:srgbClr val="0F2840"/>
          </a:solidFill>
          <a:ln w="17780">
            <a:solidFill>
              <a:srgbClr val="27B6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45752" y="4315968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58200" y="554126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Shahd Abdelaziz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0" y="6053328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Menoufia University · Faculty of Computers and Information · Graduation Project 2025-2026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65176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0" y="37490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and discussion welcome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475488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· MSCMS  —  a cloud-native multi-sport club management platform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Sportify (MSCMS) — Project Overview</dc:title>
  <dc:subject>PptxGenJS Presentation</dc:subject>
  <dc:creator>Sportify Team</dc:creator>
  <cp:lastModifiedBy>Sportify Team</cp:lastModifiedBy>
  <cp:revision>1</cp:revision>
  <dcterms:created xsi:type="dcterms:W3CDTF">2026-06-26T19:59:14Z</dcterms:created>
  <dcterms:modified xsi:type="dcterms:W3CDTF">2026-06-26T19:59:14Z</dcterms:modified>
</cp:coreProperties>
</file>